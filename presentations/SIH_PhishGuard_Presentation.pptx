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188720"/>
            <a:ext cx="4114800" cy="384048"/>
          </a:xfrm>
          <a:prstGeom prst="roundRect">
            <a:avLst/>
          </a:prstGeom>
          <a:solidFill>
            <a:srgbClr val="102A4D"/>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D4FF"/>
                </a:solidFill>
              </a:defRPr>
            </a:pPr>
            <a:r>
              <a:t>SMART INDIA HACKATHON (SIH) | SOFTWARE</a:t>
            </a:r>
          </a:p>
        </p:txBody>
      </p:sp>
      <p:sp>
        <p:nvSpPr>
          <p:cNvPr id="4" name="TextBox 3"/>
          <p:cNvSpPr txBox="1"/>
          <p:nvPr/>
        </p:nvSpPr>
        <p:spPr>
          <a:xfrm>
            <a:off x="731520" y="1737360"/>
            <a:ext cx="10698480" cy="2377440"/>
          </a:xfrm>
          <a:prstGeom prst="rect">
            <a:avLst/>
          </a:prstGeom>
          <a:noFill/>
        </p:spPr>
        <p:txBody>
          <a:bodyPr wrap="square">
            <a:spAutoFit/>
          </a:bodyPr>
          <a:lstStyle/>
          <a:p>
            <a:pPr>
              <a:defRPr sz="3600" b="1">
                <a:solidFill>
                  <a:srgbClr val="F8FAFC"/>
                </a:solidFill>
              </a:defRPr>
            </a:pPr>
            <a:r>
              <a:t>Real-Time Progressive Phishing Detection</a:t>
            </a:r>
            <a:br/>
            <a:r>
              <a:t>Browser Extension</a:t>
            </a:r>
          </a:p>
          <a:p>
            <a:pPr>
              <a:spcBef>
                <a:spcPts val="1200"/>
              </a:spcBef>
              <a:defRPr sz="1800">
                <a:solidFill>
                  <a:srgbClr val="00D4FF"/>
                </a:solidFill>
              </a:defRPr>
            </a:pPr>
            <a:r>
              <a:t>Detecting known and previously unseen phishing websites with low-latency analysis</a:t>
            </a:r>
          </a:p>
        </p:txBody>
      </p:sp>
      <p:sp>
        <p:nvSpPr>
          <p:cNvPr id="5" name="Rounded Rectangle 4"/>
          <p:cNvSpPr/>
          <p:nvPr/>
        </p:nvSpPr>
        <p:spPr>
          <a:xfrm>
            <a:off x="731520" y="4389120"/>
            <a:ext cx="3383280" cy="1920240"/>
          </a:xfrm>
          <a:prstGeom prst="roundRect">
            <a:avLst/>
          </a:prstGeom>
          <a:solidFill>
            <a:srgbClr val="14223D"/>
          </a:solidFill>
          <a:ln>
            <a:solidFill>
              <a:srgbClr val="2841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D4FF"/>
                </a:solidFill>
              </a:defRPr>
            </a:pPr>
            <a:r>
              <a:t>TEAM DETAILS</a:t>
            </a:r>
          </a:p>
          <a:p>
            <a:pPr>
              <a:spcBef>
                <a:spcPts val="600"/>
              </a:spcBef>
              <a:defRPr sz="1100">
                <a:solidFill>
                  <a:srgbClr val="9CAFCC"/>
                </a:solidFill>
              </a:defRPr>
            </a:pPr>
            <a:r>
              <a:t>Team Name: [Your Team Name]</a:t>
            </a:r>
            <a:br/>
            <a:r>
              <a:t>Track: Cybersecurity &amp; AI</a:t>
            </a:r>
            <a:br/>
            <a:r>
              <a:t>Problem Category: Web Security</a:t>
            </a:r>
          </a:p>
        </p:txBody>
      </p:sp>
      <p:sp>
        <p:nvSpPr>
          <p:cNvPr id="6" name="Rounded Rectangle 5"/>
          <p:cNvSpPr/>
          <p:nvPr/>
        </p:nvSpPr>
        <p:spPr>
          <a:xfrm>
            <a:off x="4389120" y="4389120"/>
            <a:ext cx="3383280" cy="1920240"/>
          </a:xfrm>
          <a:prstGeom prst="roundRect">
            <a:avLst/>
          </a:prstGeom>
          <a:solidFill>
            <a:srgbClr val="14223D"/>
          </a:solidFill>
          <a:ln>
            <a:solidFill>
              <a:srgbClr val="2841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D4FF"/>
                </a:solidFill>
              </a:defRPr>
            </a:pPr>
            <a:r>
              <a:t>TEAM MEMBERS</a:t>
            </a:r>
          </a:p>
          <a:p>
            <a:pPr>
              <a:spcBef>
                <a:spcPts val="600"/>
              </a:spcBef>
              <a:defRPr sz="1100">
                <a:solidFill>
                  <a:srgbClr val="9CAFCC"/>
                </a:solidFill>
              </a:defRPr>
            </a:pPr>
            <a:r>
              <a:t>• [Leader Name] (Lead / Ext Developer)</a:t>
            </a:r>
            <a:br/>
            <a:r>
              <a:t>• [Member 2] (ML / Backend)</a:t>
            </a:r>
            <a:br/>
            <a:r>
              <a:t>• [Member 3] (Frontend / Security)</a:t>
            </a:r>
            <a:br/>
            <a:r>
              <a:t>• [Member 4] (Research / QA)</a:t>
            </a:r>
          </a:p>
        </p:txBody>
      </p:sp>
      <p:sp>
        <p:nvSpPr>
          <p:cNvPr id="7" name="Rounded Rectangle 6"/>
          <p:cNvSpPr/>
          <p:nvPr/>
        </p:nvSpPr>
        <p:spPr>
          <a:xfrm>
            <a:off x="8046720" y="4389120"/>
            <a:ext cx="3383280" cy="1920240"/>
          </a:xfrm>
          <a:prstGeom prst="roundRect">
            <a:avLst/>
          </a:prstGeom>
          <a:solidFill>
            <a:srgbClr val="14223D"/>
          </a:solidFill>
          <a:ln>
            <a:solidFill>
              <a:srgbClr val="2841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D4FF"/>
                </a:solidFill>
              </a:defRPr>
            </a:pPr>
            <a:r>
              <a:t>INSTITUTION</a:t>
            </a:r>
          </a:p>
          <a:p>
            <a:pPr>
              <a:spcBef>
                <a:spcPts val="600"/>
              </a:spcBef>
              <a:defRPr sz="1100">
                <a:solidFill>
                  <a:srgbClr val="9CAFCC"/>
                </a:solidFill>
              </a:defRPr>
            </a:pPr>
            <a:r>
              <a:t>College: [Your College / University Name]</a:t>
            </a:r>
            <a:br/>
            <a:r>
              <a:t>Department of Computer Science &amp; Engg.</a:t>
            </a:r>
            <a:br/>
            <a:r>
              <a:t>Academic Year: 2024-2025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a:spAutoFit/>
          </a:bodyPr>
          <a:lstStyle/>
          <a:p>
            <a:pPr>
              <a:defRPr sz="1100" b="1">
                <a:solidFill>
                  <a:srgbClr val="00D4FF"/>
                </a:solidFill>
              </a:defRPr>
            </a:pPr>
            <a:r>
              <a:t>01 / THREAT CONTEXT</a:t>
            </a:r>
          </a:p>
        </p:txBody>
      </p:sp>
      <p:sp>
        <p:nvSpPr>
          <p:cNvPr id="4" name="TextBox 3"/>
          <p:cNvSpPr txBox="1"/>
          <p:nvPr/>
        </p:nvSpPr>
        <p:spPr>
          <a:xfrm>
            <a:off x="731520" y="640080"/>
            <a:ext cx="10698480" cy="685800"/>
          </a:xfrm>
          <a:prstGeom prst="rect">
            <a:avLst/>
          </a:prstGeom>
          <a:noFill/>
        </p:spPr>
        <p:txBody>
          <a:bodyPr wrap="none">
            <a:spAutoFit/>
          </a:bodyPr>
          <a:lstStyle/>
          <a:p>
            <a:pPr>
              <a:defRPr sz="2300" b="1">
                <a:solidFill>
                  <a:srgbClr val="F8FAFC"/>
                </a:solidFill>
              </a:defRPr>
            </a:pPr>
            <a:r>
              <a:t>What is Phishing? Understanding the Threat</a:t>
            </a:r>
          </a:p>
        </p:txBody>
      </p:sp>
      <p:sp>
        <p:nvSpPr>
          <p:cNvPr id="5" name="Rounded Rectangle 4"/>
          <p:cNvSpPr/>
          <p:nvPr/>
        </p:nvSpPr>
        <p:spPr>
          <a:xfrm>
            <a:off x="731520" y="1463040"/>
            <a:ext cx="3383280" cy="1188720"/>
          </a:xfrm>
          <a:prstGeom prst="roundRect">
            <a:avLst/>
          </a:prstGeom>
          <a:solidFill>
            <a:srgbClr val="14223D"/>
          </a:solidFill>
          <a:ln>
            <a:solidFill>
              <a:srgbClr val="2841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8416E"/>
                </a:solidFill>
              </a:defRPr>
            </a:pPr>
            <a:r>
              <a:t>1. Unsuspecting User</a:t>
            </a:r>
          </a:p>
          <a:p>
            <a:pPr>
              <a:spcBef>
                <a:spcPts val="400"/>
              </a:spcBef>
              <a:defRPr sz="1100">
                <a:solidFill>
                  <a:srgbClr val="F8FAFC"/>
                </a:solidFill>
              </a:defRPr>
            </a:pPr>
            <a:r>
              <a:t>Visits link via email, SMS, or search result</a:t>
            </a:r>
          </a:p>
        </p:txBody>
      </p:sp>
      <p:sp>
        <p:nvSpPr>
          <p:cNvPr id="6" name="Rounded Rectangle 5"/>
          <p:cNvSpPr/>
          <p:nvPr/>
        </p:nvSpPr>
        <p:spPr>
          <a:xfrm>
            <a:off x="4389120" y="1463040"/>
            <a:ext cx="3383280" cy="1188720"/>
          </a:xfrm>
          <a:prstGeom prst="roundRect">
            <a:avLst/>
          </a:prstGeom>
          <a:solidFill>
            <a:srgbClr val="14223D"/>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F4444"/>
                </a:solidFill>
              </a:defRPr>
            </a:pPr>
            <a:r>
              <a:t>2. Fake Website</a:t>
            </a:r>
          </a:p>
          <a:p>
            <a:pPr>
              <a:spcBef>
                <a:spcPts val="400"/>
              </a:spcBef>
              <a:defRPr sz="1100">
                <a:solidFill>
                  <a:srgbClr val="F8FAFC"/>
                </a:solidFill>
              </a:defRPr>
            </a:pPr>
            <a:r>
              <a:t>Imitates bank, e-commerce, or portal with precision</a:t>
            </a:r>
          </a:p>
        </p:txBody>
      </p:sp>
      <p:sp>
        <p:nvSpPr>
          <p:cNvPr id="7" name="Rounded Rectangle 6"/>
          <p:cNvSpPr/>
          <p:nvPr/>
        </p:nvSpPr>
        <p:spPr>
          <a:xfrm>
            <a:off x="8046720" y="1463040"/>
            <a:ext cx="3383280" cy="1188720"/>
          </a:xfrm>
          <a:prstGeom prst="roundRect">
            <a:avLst/>
          </a:prstGeom>
          <a:solidFill>
            <a:srgbClr val="14223D"/>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3. Data Exfiltration</a:t>
            </a:r>
          </a:p>
          <a:p>
            <a:pPr>
              <a:spcBef>
                <a:spcPts val="400"/>
              </a:spcBef>
              <a:defRPr sz="1100">
                <a:solidFill>
                  <a:srgbClr val="F8FAFC"/>
                </a:solidFill>
              </a:defRPr>
            </a:pPr>
            <a:r>
              <a:t>User credentials and financial tokens get stolen</a:t>
            </a:r>
          </a:p>
        </p:txBody>
      </p:sp>
      <p:sp>
        <p:nvSpPr>
          <p:cNvPr id="8" name="Rounded Rectangle 7"/>
          <p:cNvSpPr/>
          <p:nvPr/>
        </p:nvSpPr>
        <p:spPr>
          <a:xfrm>
            <a:off x="731520" y="2926080"/>
            <a:ext cx="5212080" cy="3383280"/>
          </a:xfrm>
          <a:prstGeom prst="roundRect">
            <a:avLst/>
          </a:prstGeom>
          <a:solidFill>
            <a:srgbClr val="14223D"/>
          </a:solidFill>
          <a:ln>
            <a:solidFill>
              <a:srgbClr val="2841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0D4FF"/>
                </a:solidFill>
              </a:defRPr>
            </a:pPr>
            <a:r>
              <a:t>Commonly Impersonated Targets</a:t>
            </a:r>
          </a:p>
          <a:p>
            <a:pPr>
              <a:spcBef>
                <a:spcPts val="800"/>
              </a:spcBef>
              <a:defRPr sz="1200">
                <a:solidFill>
                  <a:srgbClr val="F8FAFC"/>
                </a:solidFill>
              </a:defRPr>
            </a:pPr>
            <a:r>
              <a:t>• Net Banking &amp; Digital Payment Portals (UPI, RBI, major banks)</a:t>
            </a:r>
          </a:p>
          <a:p>
            <a:pPr>
              <a:spcBef>
                <a:spcPts val="800"/>
              </a:spcBef>
              <a:defRPr sz="1200">
                <a:solidFill>
                  <a:srgbClr val="F8FAFC"/>
                </a:solidFill>
              </a:defRPr>
            </a:pPr>
            <a:r>
              <a:t>• E-Commerce Platforms (fake sales, cloned checkout forms)</a:t>
            </a:r>
          </a:p>
          <a:p>
            <a:pPr>
              <a:spcBef>
                <a:spcPts val="800"/>
              </a:spcBef>
              <a:defRPr sz="1200">
                <a:solidFill>
                  <a:srgbClr val="F8FAFC"/>
                </a:solidFill>
              </a:defRPr>
            </a:pPr>
            <a:r>
              <a:t>• Government Citizen Services (tax portals, utility payment sites)</a:t>
            </a:r>
          </a:p>
          <a:p>
            <a:pPr>
              <a:spcBef>
                <a:spcPts val="800"/>
              </a:spcBef>
              <a:defRPr sz="1200">
                <a:solidFill>
                  <a:srgbClr val="F8FAFC"/>
                </a:solidFill>
              </a:defRPr>
            </a:pPr>
            <a:r>
              <a:t>• Educational Institutions &amp; Examination Gateways</a:t>
            </a:r>
          </a:p>
          <a:p>
            <a:pPr>
              <a:spcBef>
                <a:spcPts val="800"/>
              </a:spcBef>
              <a:defRPr sz="1200">
                <a:solidFill>
                  <a:srgbClr val="F8FAFC"/>
                </a:solidFill>
              </a:defRPr>
            </a:pPr>
            <a:r>
              <a:t>• Corporate Single-Sign-On (SSO) &amp; Email Services</a:t>
            </a:r>
          </a:p>
        </p:txBody>
      </p:sp>
      <p:sp>
        <p:nvSpPr>
          <p:cNvPr id="9" name="Rounded Rectangle 8"/>
          <p:cNvSpPr/>
          <p:nvPr/>
        </p:nvSpPr>
        <p:spPr>
          <a:xfrm>
            <a:off x="6217920" y="2926080"/>
            <a:ext cx="5212080" cy="3383280"/>
          </a:xfrm>
          <a:prstGeom prst="roundRect">
            <a:avLst/>
          </a:prstGeom>
          <a:solidFill>
            <a:srgbClr val="14223D"/>
          </a:solidFill>
          <a:ln>
            <a:solidFill>
              <a:srgbClr val="2841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EF4444"/>
                </a:solidFill>
              </a:defRPr>
            </a:pPr>
            <a:r>
              <a:t>Sensitive Information Stolen</a:t>
            </a:r>
          </a:p>
          <a:p>
            <a:pPr>
              <a:spcBef>
                <a:spcPts val="800"/>
              </a:spcBef>
              <a:defRPr sz="1200">
                <a:solidFill>
                  <a:srgbClr val="F8FAFC"/>
                </a:solidFill>
              </a:defRPr>
            </a:pPr>
            <a:r>
              <a:t>🔑 Account Passwords &amp; Master Keys</a:t>
            </a:r>
          </a:p>
          <a:p>
            <a:pPr>
              <a:spcBef>
                <a:spcPts val="800"/>
              </a:spcBef>
              <a:defRPr sz="1200">
                <a:solidFill>
                  <a:srgbClr val="F8FAFC"/>
                </a:solidFill>
              </a:defRPr>
            </a:pPr>
            <a:r>
              <a:t>📱 One-Time Passwords (OTPs) intercepted in real time</a:t>
            </a:r>
          </a:p>
          <a:p>
            <a:pPr>
              <a:spcBef>
                <a:spcPts val="800"/>
              </a:spcBef>
              <a:defRPr sz="1200">
                <a:solidFill>
                  <a:srgbClr val="F8FAFC"/>
                </a:solidFill>
              </a:defRPr>
            </a:pPr>
            <a:r>
              <a:t>💳 Debit/Credit Card Numbers, CVVs &amp; Expiry Dates</a:t>
            </a:r>
          </a:p>
          <a:p>
            <a:pPr>
              <a:spcBef>
                <a:spcPts val="800"/>
              </a:spcBef>
              <a:defRPr sz="1200">
                <a:solidFill>
                  <a:srgbClr val="F8FAFC"/>
                </a:solidFill>
              </a:defRPr>
            </a:pPr>
            <a:r>
              <a:t>🆔 Personally Identifiable Information (Aadhaar, PAN, SSN)</a:t>
            </a:r>
          </a:p>
          <a:p>
            <a:pPr>
              <a:spcBef>
                <a:spcPts val="800"/>
              </a:spcBef>
              <a:defRPr sz="1200">
                <a:solidFill>
                  <a:srgbClr val="F8FAFC"/>
                </a:solidFill>
              </a:defRPr>
            </a:pPr>
            <a:r>
              <a:t>💼 Corporate Credentials for secondary network attacks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a:spAutoFit/>
          </a:bodyPr>
          <a:lstStyle/>
          <a:p>
            <a:pPr>
              <a:defRPr sz="1100" b="1">
                <a:solidFill>
                  <a:srgbClr val="00D4FF"/>
                </a:solidFill>
              </a:defRPr>
            </a:pPr>
            <a:r>
              <a:t>02 / THE CHALLENGE</a:t>
            </a:r>
          </a:p>
        </p:txBody>
      </p:sp>
      <p:sp>
        <p:nvSpPr>
          <p:cNvPr id="4" name="TextBox 3"/>
          <p:cNvSpPr txBox="1"/>
          <p:nvPr/>
        </p:nvSpPr>
        <p:spPr>
          <a:xfrm>
            <a:off x="731520" y="640080"/>
            <a:ext cx="10698480" cy="685800"/>
          </a:xfrm>
          <a:prstGeom prst="rect">
            <a:avLst/>
          </a:prstGeom>
          <a:noFill/>
        </p:spPr>
        <p:txBody>
          <a:bodyPr wrap="none">
            <a:spAutoFit/>
          </a:bodyPr>
          <a:lstStyle/>
          <a:p>
            <a:pPr>
              <a:defRPr sz="2300" b="1">
                <a:solidFill>
                  <a:srgbClr val="F8FAFC"/>
                </a:solidFill>
              </a:defRPr>
            </a:pPr>
            <a:r>
              <a:t>Problem Statement: The Two Core Bottlenecks</a:t>
            </a:r>
          </a:p>
        </p:txBody>
      </p:sp>
      <p:sp>
        <p:nvSpPr>
          <p:cNvPr id="5" name="Rounded Rectangle 4"/>
          <p:cNvSpPr/>
          <p:nvPr/>
        </p:nvSpPr>
        <p:spPr>
          <a:xfrm>
            <a:off x="731520" y="1463040"/>
            <a:ext cx="10698480" cy="1371600"/>
          </a:xfrm>
          <a:prstGeom prst="roundRect">
            <a:avLst/>
          </a:prstGeom>
          <a:solidFill>
            <a:srgbClr val="102A4D"/>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D4FF"/>
                </a:solidFill>
              </a:defRPr>
            </a:pPr>
            <a:r>
              <a:t>CORE REALITY IN PHISHING DEFENSE:</a:t>
            </a:r>
          </a:p>
          <a:p>
            <a:pPr>
              <a:spcBef>
                <a:spcPts val="600"/>
              </a:spcBef>
              <a:defRPr sz="1400">
                <a:solidFill>
                  <a:srgbClr val="F8FAFC"/>
                </a:solidFill>
              </a:defRPr>
            </a:pPr>
            <a:r>
              <a:t>“Existing phishing protection can identify many known malicious websites, but attackers continuously create new phishing domains that may not yet appear in threat databases. Deep analysis of every website can also introduce unnecessary latency.”</a:t>
            </a:r>
          </a:p>
        </p:txBody>
      </p:sp>
      <p:sp>
        <p:nvSpPr>
          <p:cNvPr id="6" name="Rounded Rectangle 5"/>
          <p:cNvSpPr/>
          <p:nvPr/>
        </p:nvSpPr>
        <p:spPr>
          <a:xfrm>
            <a:off x="731520" y="3108960"/>
            <a:ext cx="5212080" cy="3200400"/>
          </a:xfrm>
          <a:prstGeom prst="roundRect">
            <a:avLst/>
          </a:prstGeom>
          <a:solidFill>
            <a:srgbClr val="14223D"/>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EF4444"/>
                </a:solidFill>
              </a:defRPr>
            </a:pPr>
            <a:r>
              <a:t>Challenge 1: Unseen / Zero-Day Domains</a:t>
            </a:r>
          </a:p>
          <a:p>
            <a:pPr>
              <a:spcBef>
                <a:spcPts val="1000"/>
              </a:spcBef>
              <a:defRPr sz="1200">
                <a:solidFill>
                  <a:srgbClr val="9CAFCC"/>
                </a:solidFill>
              </a:defRPr>
            </a:pPr>
            <a:r>
              <a:t>• Attackers spin up disposable phishing websites in minutes.</a:t>
            </a:r>
          </a:p>
          <a:p>
            <a:pPr>
              <a:spcBef>
                <a:spcPts val="1000"/>
              </a:spcBef>
              <a:defRPr sz="1200">
                <a:solidFill>
                  <a:srgbClr val="9CAFCC"/>
                </a:solidFill>
              </a:defRPr>
            </a:pPr>
            <a:r>
              <a:t>• Threat databases require hours or days to discover, report, and blacklist new URLs.</a:t>
            </a:r>
          </a:p>
          <a:p>
            <a:pPr>
              <a:spcBef>
                <a:spcPts val="1000"/>
              </a:spcBef>
              <a:defRPr sz="1200">
                <a:solidFill>
                  <a:srgbClr val="9CAFCC"/>
                </a:solidFill>
              </a:defRPr>
            </a:pPr>
            <a:r>
              <a:t>• The most critical credential theft occurs during this unindexed gap.</a:t>
            </a:r>
          </a:p>
        </p:txBody>
      </p:sp>
      <p:sp>
        <p:nvSpPr>
          <p:cNvPr id="7" name="Rounded Rectangle 6"/>
          <p:cNvSpPr/>
          <p:nvPr/>
        </p:nvSpPr>
        <p:spPr>
          <a:xfrm>
            <a:off x="6217920" y="3108960"/>
            <a:ext cx="5212080" cy="3200400"/>
          </a:xfrm>
          <a:prstGeom prst="roundRect">
            <a:avLst/>
          </a:prstGeom>
          <a:solidFill>
            <a:srgbClr val="14223D"/>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9E0B"/>
                </a:solidFill>
              </a:defRPr>
            </a:pPr>
            <a:r>
              <a:t>Challenge 2: Low-Latency Early Warning</a:t>
            </a:r>
          </a:p>
          <a:p>
            <a:pPr>
              <a:spcBef>
                <a:spcPts val="1000"/>
              </a:spcBef>
              <a:defRPr sz="1200">
                <a:solidFill>
                  <a:srgbClr val="9CAFCC"/>
                </a:solidFill>
              </a:defRPr>
            </a:pPr>
            <a:r>
              <a:t>• Deep cloud sandboxing or complete page re-crawling adds 2–4 seconds of delay per click.</a:t>
            </a:r>
          </a:p>
          <a:p>
            <a:pPr>
              <a:spcBef>
                <a:spcPts val="1000"/>
              </a:spcBef>
              <a:defRPr sz="1200">
                <a:solidFill>
                  <a:srgbClr val="9CAFCC"/>
                </a:solidFill>
              </a:defRPr>
            </a:pPr>
            <a:r>
              <a:t>• Browsers cannot delay every legitimate website visit without destroying user experience.</a:t>
            </a:r>
          </a:p>
          <a:p>
            <a:pPr>
              <a:spcBef>
                <a:spcPts val="1000"/>
              </a:spcBef>
              <a:defRPr sz="1200">
                <a:solidFill>
                  <a:srgbClr val="9CAFCC"/>
                </a:solidFill>
              </a:defRPr>
            </a:pPr>
            <a:r>
              <a:t>• Detection must warn users before credentials are typed into forms.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a:spAutoFit/>
          </a:bodyPr>
          <a:lstStyle/>
          <a:p>
            <a:pPr>
              <a:defRPr sz="1100" b="1">
                <a:solidFill>
                  <a:srgbClr val="00D4FF"/>
                </a:solidFill>
              </a:defRPr>
            </a:pPr>
            <a:r>
              <a:t>03 / CURRENT APPROACHES</a:t>
            </a:r>
          </a:p>
        </p:txBody>
      </p:sp>
      <p:sp>
        <p:nvSpPr>
          <p:cNvPr id="4" name="TextBox 3"/>
          <p:cNvSpPr txBox="1"/>
          <p:nvPr/>
        </p:nvSpPr>
        <p:spPr>
          <a:xfrm>
            <a:off x="731520" y="640080"/>
            <a:ext cx="10698480" cy="685800"/>
          </a:xfrm>
          <a:prstGeom prst="rect">
            <a:avLst/>
          </a:prstGeom>
          <a:noFill/>
        </p:spPr>
        <p:txBody>
          <a:bodyPr wrap="none">
            <a:spAutoFit/>
          </a:bodyPr>
          <a:lstStyle/>
          <a:p>
            <a:pPr>
              <a:defRPr sz="2300" b="1">
                <a:solidFill>
                  <a:srgbClr val="F8FAFC"/>
                </a:solidFill>
              </a:defRPr>
            </a:pPr>
            <a:r>
              <a:t>Existing Solutions and Their Practical Limitation</a:t>
            </a:r>
          </a:p>
        </p:txBody>
      </p:sp>
      <p:sp>
        <p:nvSpPr>
          <p:cNvPr id="5" name="Rounded Rectangle 4"/>
          <p:cNvSpPr/>
          <p:nvPr/>
        </p:nvSpPr>
        <p:spPr>
          <a:xfrm>
            <a:off x="731520" y="1463040"/>
            <a:ext cx="5486400" cy="4846320"/>
          </a:xfrm>
          <a:prstGeom prst="roundRect">
            <a:avLst/>
          </a:prstGeom>
          <a:solidFill>
            <a:srgbClr val="14223D"/>
          </a:solidFill>
          <a:ln>
            <a:solidFill>
              <a:srgbClr val="2841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0D4FF"/>
                </a:solidFill>
              </a:defRPr>
            </a:pPr>
            <a:r>
              <a:t>Current Industry Approaches</a:t>
            </a:r>
          </a:p>
          <a:p>
            <a:pPr>
              <a:spcBef>
                <a:spcPts val="1000"/>
              </a:spcBef>
              <a:defRPr sz="1100">
                <a:solidFill>
                  <a:srgbClr val="F8FAFC"/>
                </a:solidFill>
              </a:defRPr>
            </a:pPr>
            <a:r>
              <a:t>• Browser Phishing Protection: Built-in browser defenses (Google Safe Browsing, SmartScreen).</a:t>
            </a:r>
          </a:p>
          <a:p>
            <a:pPr>
              <a:spcBef>
                <a:spcPts val="1000"/>
              </a:spcBef>
              <a:defRPr sz="1100">
                <a:solidFill>
                  <a:srgbClr val="F8FAFC"/>
                </a:solidFill>
              </a:defRPr>
            </a:pPr>
            <a:r>
              <a:t>• Threat Intelligence Databases: Global repositories tracking known malicious indicators (PhishTank, OpenPhish).</a:t>
            </a:r>
          </a:p>
          <a:p>
            <a:pPr>
              <a:spcBef>
                <a:spcPts val="1000"/>
              </a:spcBef>
              <a:defRPr sz="1100">
                <a:solidFill>
                  <a:srgbClr val="F8FAFC"/>
                </a:solidFill>
              </a:defRPr>
            </a:pPr>
            <a:r>
              <a:t>• URL Reputation Systems: Domain scoring based on historical DNS, WHOIS, and web crawler reports.</a:t>
            </a:r>
          </a:p>
          <a:p>
            <a:pPr>
              <a:spcBef>
                <a:spcPts val="1000"/>
              </a:spcBef>
              <a:defRPr sz="1100">
                <a:solidFill>
                  <a:srgbClr val="F8FAFC"/>
                </a:solidFill>
              </a:defRPr>
            </a:pPr>
            <a:r>
              <a:t>• Static Blacklists: Pre-compiled lists of blocked domains updated periodically.</a:t>
            </a:r>
          </a:p>
          <a:p>
            <a:pPr>
              <a:spcBef>
                <a:spcPts val="1000"/>
              </a:spcBef>
              <a:defRPr sz="1100">
                <a:solidFill>
                  <a:srgbClr val="F8FAFC"/>
                </a:solidFill>
              </a:defRPr>
            </a:pPr>
            <a:r>
              <a:t>• ML-Based Detection Models: Algorithms classifying malicious URLs based on training datasets.</a:t>
            </a:r>
          </a:p>
        </p:txBody>
      </p:sp>
      <p:sp>
        <p:nvSpPr>
          <p:cNvPr id="6" name="Rounded Rectangle 5"/>
          <p:cNvSpPr/>
          <p:nvPr/>
        </p:nvSpPr>
        <p:spPr>
          <a:xfrm>
            <a:off x="6492240" y="1463040"/>
            <a:ext cx="4937760" cy="2103120"/>
          </a:xfrm>
          <a:prstGeom prst="roundRect">
            <a:avLst/>
          </a:prstGeom>
          <a:solidFill>
            <a:srgbClr val="10203A"/>
          </a:solidFill>
          <a:ln>
            <a:solidFill>
              <a:srgbClr val="2841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D4FF"/>
                </a:solidFill>
              </a:defRPr>
            </a:pPr>
            <a:r>
              <a:t>TRADITIONAL DETECTION WORKFLOW</a:t>
            </a:r>
          </a:p>
          <a:p>
            <a:pPr>
              <a:spcBef>
                <a:spcPts val="1200"/>
              </a:spcBef>
              <a:defRPr sz="1300" b="1">
                <a:solidFill>
                  <a:srgbClr val="F8FAFC"/>
                </a:solidFill>
              </a:defRPr>
            </a:pPr>
            <a:r>
              <a:t>Website URL  ➔  Reputation Database  ➔  Known Threat?  ➔  Warning / Block</a:t>
            </a:r>
          </a:p>
        </p:txBody>
      </p:sp>
      <p:sp>
        <p:nvSpPr>
          <p:cNvPr id="7" name="Rounded Rectangle 6"/>
          <p:cNvSpPr/>
          <p:nvPr/>
        </p:nvSpPr>
        <p:spPr>
          <a:xfrm>
            <a:off x="6492240" y="3840480"/>
            <a:ext cx="4937760" cy="2468880"/>
          </a:xfrm>
          <a:prstGeom prst="roundRect">
            <a:avLst/>
          </a:prstGeom>
          <a:solidFill>
            <a:srgbClr val="14223D"/>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EF4444"/>
                </a:solidFill>
              </a:defRPr>
            </a:pPr>
            <a:r>
              <a:t>THE FUNDAMENTAL LIMITATION</a:t>
            </a:r>
          </a:p>
          <a:p>
            <a:pPr>
              <a:spcBef>
                <a:spcPts val="800"/>
              </a:spcBef>
              <a:defRPr sz="1400" b="1">
                <a:solidFill>
                  <a:srgbClr val="F8FAFC"/>
                </a:solidFill>
              </a:defRPr>
            </a:pPr>
            <a:r>
              <a:t>“Unknown or newly created phishing websites may not yet have reputation information.”</a:t>
            </a:r>
          </a:p>
          <a:p>
            <a:pPr>
              <a:spcBef>
                <a:spcPts val="800"/>
              </a:spcBef>
              <a:defRPr sz="1100">
                <a:solidFill>
                  <a:srgbClr val="9CAFCC"/>
                </a:solidFill>
              </a:defRPr>
            </a:pPr>
            <a:r>
              <a:t>Existing browsers are effective against established threats, but need real-time multi-stage intelligence to handle the initial hours of new campaigns without slowing down safe websites.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a:spAutoFit/>
          </a:bodyPr>
          <a:lstStyle/>
          <a:p>
            <a:pPr>
              <a:defRPr sz="1100" b="1">
                <a:solidFill>
                  <a:srgbClr val="00D4FF"/>
                </a:solidFill>
              </a:defRPr>
            </a:pPr>
            <a:r>
              <a:t>04 / OUR SOLUTION</a:t>
            </a:r>
          </a:p>
        </p:txBody>
      </p:sp>
      <p:sp>
        <p:nvSpPr>
          <p:cNvPr id="4" name="TextBox 3"/>
          <p:cNvSpPr txBox="1"/>
          <p:nvPr/>
        </p:nvSpPr>
        <p:spPr>
          <a:xfrm>
            <a:off x="731520" y="640080"/>
            <a:ext cx="10698480" cy="685800"/>
          </a:xfrm>
          <a:prstGeom prst="rect">
            <a:avLst/>
          </a:prstGeom>
          <a:noFill/>
        </p:spPr>
        <p:txBody>
          <a:bodyPr wrap="none">
            <a:spAutoFit/>
          </a:bodyPr>
          <a:lstStyle/>
          <a:p>
            <a:pPr>
              <a:defRPr sz="2300" b="1">
                <a:solidFill>
                  <a:srgbClr val="F8FAFC"/>
                </a:solidFill>
              </a:defRPr>
            </a:pPr>
            <a:r>
              <a:t>Proposed Solution: Real-Time Progressive Phishing Detection</a:t>
            </a:r>
          </a:p>
        </p:txBody>
      </p:sp>
      <p:sp>
        <p:nvSpPr>
          <p:cNvPr id="5" name="Rounded Rectangle 4"/>
          <p:cNvSpPr/>
          <p:nvPr/>
        </p:nvSpPr>
        <p:spPr>
          <a:xfrm>
            <a:off x="731520" y="1463040"/>
            <a:ext cx="10698480" cy="1097280"/>
          </a:xfrm>
          <a:prstGeom prst="roundRect">
            <a:avLst/>
          </a:prstGeom>
          <a:solidFill>
            <a:srgbClr val="102A4D"/>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D4FF"/>
                </a:solidFill>
              </a:defRPr>
            </a:pPr>
            <a:r>
              <a:t>PROGRESSIVE MULTI-STAGE ANALYSIS CONCEPT</a:t>
            </a:r>
          </a:p>
          <a:p>
            <a:pPr>
              <a:spcBef>
                <a:spcPts val="400"/>
              </a:spcBef>
              <a:defRPr sz="1300">
                <a:solidFill>
                  <a:srgbClr val="F8FAFC"/>
                </a:solidFill>
              </a:defRPr>
            </a:pPr>
            <a:r>
              <a:t>The browser extension analyzes URLs in multiple stages. Fast and lightweight checks happen first, while deeper analysis is performed only when a URL is suspicious or unknown.</a:t>
            </a:r>
          </a:p>
        </p:txBody>
      </p:sp>
      <p:sp>
        <p:nvSpPr>
          <p:cNvPr id="6" name="Rounded Rectangle 5"/>
          <p:cNvSpPr/>
          <p:nvPr/>
        </p:nvSpPr>
        <p:spPr>
          <a:xfrm>
            <a:off x="731520" y="2834640"/>
            <a:ext cx="1600200" cy="3474720"/>
          </a:xfrm>
          <a:prstGeom prst="roundRect">
            <a:avLst/>
          </a:prstGeom>
          <a:solidFill>
            <a:srgbClr val="14223D"/>
          </a:solidFill>
          <a:ln>
            <a:solidFill>
              <a:srgbClr val="2841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8416E"/>
                </a:solidFill>
              </a:defRPr>
            </a:pPr>
            <a:r>
              <a:t>STEP 01</a:t>
            </a:r>
          </a:p>
          <a:p>
            <a:pPr>
              <a:spcBef>
                <a:spcPts val="600"/>
              </a:spcBef>
              <a:defRPr sz="1400" b="1">
                <a:solidFill>
                  <a:srgbClr val="F8FAFC"/>
                </a:solidFill>
              </a:defRPr>
            </a:pPr>
            <a:r>
              <a:t>1. URL Request</a:t>
            </a:r>
          </a:p>
          <a:p>
            <a:pPr>
              <a:spcBef>
                <a:spcPts val="1000"/>
              </a:spcBef>
              <a:defRPr sz="1100">
                <a:solidFill>
                  <a:srgbClr val="9CAFCC"/>
                </a:solidFill>
              </a:defRPr>
            </a:pPr>
            <a:r>
              <a:t>Browser intercepts navigation event</a:t>
            </a:r>
          </a:p>
        </p:txBody>
      </p:sp>
      <p:sp>
        <p:nvSpPr>
          <p:cNvPr id="7" name="Rounded Rectangle 6"/>
          <p:cNvSpPr/>
          <p:nvPr/>
        </p:nvSpPr>
        <p:spPr>
          <a:xfrm>
            <a:off x="2551176" y="2834640"/>
            <a:ext cx="1600200" cy="3474720"/>
          </a:xfrm>
          <a:prstGeom prst="roundRect">
            <a:avLst/>
          </a:prstGeom>
          <a:solidFill>
            <a:srgbClr val="14223D"/>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D4FF"/>
                </a:solidFill>
              </a:defRPr>
            </a:pPr>
            <a:r>
              <a:t>STEP 02</a:t>
            </a:r>
          </a:p>
          <a:p>
            <a:pPr>
              <a:spcBef>
                <a:spcPts val="600"/>
              </a:spcBef>
              <a:defRPr sz="1400" b="1">
                <a:solidFill>
                  <a:srgbClr val="F8FAFC"/>
                </a:solidFill>
              </a:defRPr>
            </a:pPr>
            <a:r>
              <a:t>2. Local URL Check</a:t>
            </a:r>
          </a:p>
          <a:p>
            <a:pPr>
              <a:spcBef>
                <a:spcPts val="1000"/>
              </a:spcBef>
              <a:defRPr sz="1100">
                <a:solidFill>
                  <a:srgbClr val="9CAFCC"/>
                </a:solidFill>
              </a:defRPr>
            </a:pPr>
            <a:r>
              <a:t>Rapid on-device heuristic inspection</a:t>
            </a:r>
          </a:p>
        </p:txBody>
      </p:sp>
      <p:sp>
        <p:nvSpPr>
          <p:cNvPr id="8" name="Rounded Rectangle 7"/>
          <p:cNvSpPr/>
          <p:nvPr/>
        </p:nvSpPr>
        <p:spPr>
          <a:xfrm>
            <a:off x="4370832" y="2834640"/>
            <a:ext cx="1600200" cy="3474720"/>
          </a:xfrm>
          <a:prstGeom prst="roundRect">
            <a:avLst/>
          </a:prstGeom>
          <a:solidFill>
            <a:srgbClr val="14223D"/>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defRPr>
            </a:pPr>
            <a:r>
              <a:t>STEP 03</a:t>
            </a:r>
          </a:p>
          <a:p>
            <a:pPr>
              <a:spcBef>
                <a:spcPts val="600"/>
              </a:spcBef>
              <a:defRPr sz="1400" b="1">
                <a:solidFill>
                  <a:srgbClr val="F8FAFC"/>
                </a:solidFill>
              </a:defRPr>
            </a:pPr>
            <a:r>
              <a:t>3. Threat Intel</a:t>
            </a:r>
          </a:p>
          <a:p>
            <a:pPr>
              <a:spcBef>
                <a:spcPts val="1000"/>
              </a:spcBef>
              <a:defRPr sz="1100">
                <a:solidFill>
                  <a:srgbClr val="9CAFCC"/>
                </a:solidFill>
              </a:defRPr>
            </a:pPr>
            <a:r>
              <a:t>Reputation &amp; known-threat check</a:t>
            </a:r>
          </a:p>
        </p:txBody>
      </p:sp>
      <p:sp>
        <p:nvSpPr>
          <p:cNvPr id="9" name="Rounded Rectangle 8"/>
          <p:cNvSpPr/>
          <p:nvPr/>
        </p:nvSpPr>
        <p:spPr>
          <a:xfrm>
            <a:off x="6190488" y="2834640"/>
            <a:ext cx="1600200" cy="3474720"/>
          </a:xfrm>
          <a:prstGeom prst="roundRect">
            <a:avLst/>
          </a:prstGeom>
          <a:solidFill>
            <a:srgbClr val="14223D"/>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59E0B"/>
                </a:solidFill>
              </a:defRPr>
            </a:pPr>
            <a:r>
              <a:t>STEP 04</a:t>
            </a:r>
          </a:p>
          <a:p>
            <a:pPr>
              <a:spcBef>
                <a:spcPts val="600"/>
              </a:spcBef>
              <a:defRPr sz="1400" b="1">
                <a:solidFill>
                  <a:srgbClr val="F8FAFC"/>
                </a:solidFill>
              </a:defRPr>
            </a:pPr>
            <a:r>
              <a:t>4. Domain Intel</a:t>
            </a:r>
          </a:p>
          <a:p>
            <a:pPr>
              <a:spcBef>
                <a:spcPts val="1000"/>
              </a:spcBef>
              <a:defRPr sz="1100">
                <a:solidFill>
                  <a:srgbClr val="9CAFCC"/>
                </a:solidFill>
              </a:defRPr>
            </a:pPr>
            <a:r>
              <a:t>Age, DNS, and hosting validation</a:t>
            </a:r>
          </a:p>
        </p:txBody>
      </p:sp>
      <p:sp>
        <p:nvSpPr>
          <p:cNvPr id="10" name="Rounded Rectangle 9"/>
          <p:cNvSpPr/>
          <p:nvPr/>
        </p:nvSpPr>
        <p:spPr>
          <a:xfrm>
            <a:off x="8010144" y="2834640"/>
            <a:ext cx="1600200" cy="3474720"/>
          </a:xfrm>
          <a:prstGeom prst="roundRect">
            <a:avLst/>
          </a:prstGeom>
          <a:solidFill>
            <a:srgbClr val="14223D"/>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EF4444"/>
                </a:solidFill>
              </a:defRPr>
            </a:pPr>
            <a:r>
              <a:t>STEP 05</a:t>
            </a:r>
          </a:p>
          <a:p>
            <a:pPr>
              <a:spcBef>
                <a:spcPts val="600"/>
              </a:spcBef>
              <a:defRPr sz="1400" b="1">
                <a:solidFill>
                  <a:srgbClr val="F8FAFC"/>
                </a:solidFill>
              </a:defRPr>
            </a:pPr>
            <a:r>
              <a:t>5. ML Analysis</a:t>
            </a:r>
          </a:p>
          <a:p>
            <a:pPr>
              <a:spcBef>
                <a:spcPts val="1000"/>
              </a:spcBef>
              <a:defRPr sz="1100">
                <a:solidFill>
                  <a:srgbClr val="9CAFCC"/>
                </a:solidFill>
              </a:defRPr>
            </a:pPr>
            <a:r>
              <a:t>Webpage &amp; form feature evaluation</a:t>
            </a:r>
          </a:p>
        </p:txBody>
      </p:sp>
      <p:sp>
        <p:nvSpPr>
          <p:cNvPr id="11" name="Rounded Rectangle 10"/>
          <p:cNvSpPr/>
          <p:nvPr/>
        </p:nvSpPr>
        <p:spPr>
          <a:xfrm>
            <a:off x="9829800" y="2834640"/>
            <a:ext cx="1600200" cy="3474720"/>
          </a:xfrm>
          <a:prstGeom prst="roundRect">
            <a:avLst/>
          </a:prstGeom>
          <a:solidFill>
            <a:srgbClr val="14223D"/>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2C55E"/>
                </a:solidFill>
              </a:defRPr>
            </a:pPr>
            <a:r>
              <a:t>STEP 06</a:t>
            </a:r>
          </a:p>
          <a:p>
            <a:pPr>
              <a:spcBef>
                <a:spcPts val="600"/>
              </a:spcBef>
              <a:defRPr sz="1400" b="1">
                <a:solidFill>
                  <a:srgbClr val="F8FAFC"/>
                </a:solidFill>
              </a:defRPr>
            </a:pPr>
            <a:r>
              <a:t>6. Risk Score</a:t>
            </a:r>
          </a:p>
          <a:p>
            <a:pPr>
              <a:spcBef>
                <a:spcPts val="1000"/>
              </a:spcBef>
              <a:defRPr sz="1100">
                <a:solidFill>
                  <a:srgbClr val="9CAFCC"/>
                </a:solidFill>
              </a:defRPr>
            </a:pPr>
            <a:r>
              <a:t>SAFE / SUSPICIOUS / HIGH RISK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a:spAutoFit/>
          </a:bodyPr>
          <a:lstStyle/>
          <a:p>
            <a:pPr>
              <a:defRPr sz="1100" b="1">
                <a:solidFill>
                  <a:srgbClr val="00D4FF"/>
                </a:solidFill>
              </a:defRPr>
            </a:pPr>
            <a:r>
              <a:t>05 / TECHNICAL BREAKDOWN</a:t>
            </a:r>
          </a:p>
        </p:txBody>
      </p:sp>
      <p:sp>
        <p:nvSpPr>
          <p:cNvPr id="4" name="TextBox 3"/>
          <p:cNvSpPr txBox="1"/>
          <p:nvPr/>
        </p:nvSpPr>
        <p:spPr>
          <a:xfrm>
            <a:off x="731520" y="640080"/>
            <a:ext cx="10698480" cy="685800"/>
          </a:xfrm>
          <a:prstGeom prst="rect">
            <a:avLst/>
          </a:prstGeom>
          <a:noFill/>
        </p:spPr>
        <p:txBody>
          <a:bodyPr wrap="none">
            <a:spAutoFit/>
          </a:bodyPr>
          <a:lstStyle/>
          <a:p>
            <a:pPr>
              <a:defRPr sz="2300" b="1">
                <a:solidFill>
                  <a:srgbClr val="F8FAFC"/>
                </a:solidFill>
              </a:defRPr>
            </a:pPr>
            <a:r>
              <a:t>How It Works: The 4-Layer Inspection Pipeline</a:t>
            </a:r>
          </a:p>
        </p:txBody>
      </p:sp>
      <p:sp>
        <p:nvSpPr>
          <p:cNvPr id="5" name="Rounded Rectangle 4"/>
          <p:cNvSpPr/>
          <p:nvPr/>
        </p:nvSpPr>
        <p:spPr>
          <a:xfrm>
            <a:off x="731520" y="1463040"/>
            <a:ext cx="2468880" cy="4846320"/>
          </a:xfrm>
          <a:prstGeom prst="roundRect">
            <a:avLst/>
          </a:prstGeom>
          <a:solidFill>
            <a:srgbClr val="14223D"/>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0D4FF"/>
                </a:solidFill>
              </a:defRPr>
            </a:pPr>
            <a:r>
              <a:t>1. Local URL Analysis</a:t>
            </a:r>
          </a:p>
          <a:p>
            <a:pPr>
              <a:spcBef>
                <a:spcPts val="800"/>
              </a:spcBef>
              <a:defRPr sz="1100">
                <a:solidFill>
                  <a:srgbClr val="F8FAFC"/>
                </a:solidFill>
              </a:defRPr>
            </a:pPr>
            <a:r>
              <a:t>• URL length &amp; structure</a:t>
            </a:r>
          </a:p>
          <a:p>
            <a:pPr>
              <a:spcBef>
                <a:spcPts val="800"/>
              </a:spcBef>
              <a:defRPr sz="1100">
                <a:solidFill>
                  <a:srgbClr val="F8FAFC"/>
                </a:solidFill>
              </a:defRPr>
            </a:pPr>
            <a:r>
              <a:t>• Suspicious keywords (login, verify)</a:t>
            </a:r>
          </a:p>
          <a:p>
            <a:pPr>
              <a:spcBef>
                <a:spcPts val="800"/>
              </a:spcBef>
              <a:defRPr sz="1100">
                <a:solidFill>
                  <a:srgbClr val="F8FAFC"/>
                </a:solidFill>
              </a:defRPr>
            </a:pPr>
            <a:r>
              <a:t>• Unusual / special characters</a:t>
            </a:r>
          </a:p>
          <a:p>
            <a:pPr>
              <a:spcBef>
                <a:spcPts val="800"/>
              </a:spcBef>
              <a:defRPr sz="1100">
                <a:solidFill>
                  <a:srgbClr val="F8FAFC"/>
                </a:solidFill>
              </a:defRPr>
            </a:pPr>
            <a:r>
              <a:t>• Excessive subdomains</a:t>
            </a:r>
          </a:p>
          <a:p>
            <a:pPr>
              <a:spcBef>
                <a:spcPts val="800"/>
              </a:spcBef>
              <a:defRPr sz="1100">
                <a:solidFill>
                  <a:srgbClr val="F8FAFC"/>
                </a:solidFill>
              </a:defRPr>
            </a:pPr>
            <a:r>
              <a:t>• Direct IP-based URLs</a:t>
            </a:r>
          </a:p>
          <a:p>
            <a:pPr>
              <a:spcBef>
                <a:spcPts val="800"/>
              </a:spcBef>
              <a:defRPr sz="1100">
                <a:solidFill>
                  <a:srgbClr val="F8FAFC"/>
                </a:solidFill>
              </a:defRPr>
            </a:pPr>
            <a:r>
              <a:t>• Look-alike / homoglyph domains</a:t>
            </a:r>
          </a:p>
        </p:txBody>
      </p:sp>
      <p:sp>
        <p:nvSpPr>
          <p:cNvPr id="6" name="Rounded Rectangle 5"/>
          <p:cNvSpPr/>
          <p:nvPr/>
        </p:nvSpPr>
        <p:spPr>
          <a:xfrm>
            <a:off x="3474720" y="1463040"/>
            <a:ext cx="2468880" cy="4846320"/>
          </a:xfrm>
          <a:prstGeom prst="roundRect">
            <a:avLst/>
          </a:prstGeom>
          <a:solidFill>
            <a:srgbClr val="14223D"/>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563EB"/>
                </a:solidFill>
              </a:defRPr>
            </a:pPr>
            <a:r>
              <a:t>2. Threat Intelligence</a:t>
            </a:r>
          </a:p>
          <a:p>
            <a:pPr>
              <a:spcBef>
                <a:spcPts val="800"/>
              </a:spcBef>
              <a:defRPr sz="1100">
                <a:solidFill>
                  <a:srgbClr val="F8FAFC"/>
                </a:solidFill>
              </a:defRPr>
            </a:pPr>
            <a:r>
              <a:t>• Known phishing URL feeds</a:t>
            </a:r>
          </a:p>
          <a:p>
            <a:pPr>
              <a:spcBef>
                <a:spcPts val="800"/>
              </a:spcBef>
              <a:defRPr sz="1100">
                <a:solidFill>
                  <a:srgbClr val="F8FAFC"/>
                </a:solidFill>
              </a:defRPr>
            </a:pPr>
            <a:r>
              <a:t>• Malicious domain registries</a:t>
            </a:r>
          </a:p>
          <a:p>
            <a:pPr>
              <a:spcBef>
                <a:spcPts val="800"/>
              </a:spcBef>
              <a:defRPr sz="1100">
                <a:solidFill>
                  <a:srgbClr val="F8FAFC"/>
                </a:solidFill>
              </a:defRPr>
            </a:pPr>
            <a:r>
              <a:t>• Compromised host records</a:t>
            </a:r>
          </a:p>
          <a:p>
            <a:pPr>
              <a:spcBef>
                <a:spcPts val="800"/>
              </a:spcBef>
              <a:defRPr sz="1100">
                <a:solidFill>
                  <a:srgbClr val="F8FAFC"/>
                </a:solidFill>
              </a:defRPr>
            </a:pPr>
            <a:r>
              <a:t>• Previous campaign signatures</a:t>
            </a:r>
          </a:p>
          <a:p>
            <a:pPr>
              <a:spcBef>
                <a:spcPts val="800"/>
              </a:spcBef>
              <a:defRPr sz="1100">
                <a:solidFill>
                  <a:srgbClr val="F8FAFC"/>
                </a:solidFill>
              </a:defRPr>
            </a:pPr>
            <a:r>
              <a:t>• Fast cached reputation lookups</a:t>
            </a:r>
          </a:p>
          <a:p>
            <a:pPr>
              <a:spcBef>
                <a:spcPts val="800"/>
              </a:spcBef>
              <a:defRPr sz="1100">
                <a:solidFill>
                  <a:srgbClr val="F8FAFC"/>
                </a:solidFill>
              </a:defRPr>
            </a:pPr>
            <a:r>
              <a:t>• Community threat reports</a:t>
            </a:r>
          </a:p>
        </p:txBody>
      </p:sp>
      <p:sp>
        <p:nvSpPr>
          <p:cNvPr id="7" name="Rounded Rectangle 6"/>
          <p:cNvSpPr/>
          <p:nvPr/>
        </p:nvSpPr>
        <p:spPr>
          <a:xfrm>
            <a:off x="6217920" y="1463040"/>
            <a:ext cx="2468880" cy="4846320"/>
          </a:xfrm>
          <a:prstGeom prst="roundRect">
            <a:avLst/>
          </a:prstGeom>
          <a:solidFill>
            <a:srgbClr val="14223D"/>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59E0B"/>
                </a:solidFill>
              </a:defRPr>
            </a:pPr>
            <a:r>
              <a:t>3. Domain Intelligence</a:t>
            </a:r>
          </a:p>
          <a:p>
            <a:pPr>
              <a:spcBef>
                <a:spcPts val="800"/>
              </a:spcBef>
              <a:defRPr sz="1100">
                <a:solidFill>
                  <a:srgbClr val="F8FAFC"/>
                </a:solidFill>
              </a:defRPr>
            </a:pPr>
            <a:r>
              <a:t>• Newly registered domain age</a:t>
            </a:r>
          </a:p>
          <a:p>
            <a:pPr>
              <a:spcBef>
                <a:spcPts val="800"/>
              </a:spcBef>
              <a:defRPr sz="1100">
                <a:solidFill>
                  <a:srgbClr val="F8FAFC"/>
                </a:solidFill>
              </a:defRPr>
            </a:pPr>
            <a:r>
              <a:t>• DNS record consistency</a:t>
            </a:r>
          </a:p>
          <a:p>
            <a:pPr>
              <a:spcBef>
                <a:spcPts val="800"/>
              </a:spcBef>
              <a:defRPr sz="1100">
                <a:solidFill>
                  <a:srgbClr val="F8FAFC"/>
                </a:solidFill>
              </a:defRPr>
            </a:pPr>
            <a:r>
              <a:t>• SSL / TLS certificate details</a:t>
            </a:r>
          </a:p>
          <a:p>
            <a:pPr>
              <a:spcBef>
                <a:spcPts val="800"/>
              </a:spcBef>
              <a:defRPr sz="1100">
                <a:solidFill>
                  <a:srgbClr val="F8FAFC"/>
                </a:solidFill>
              </a:defRPr>
            </a:pPr>
            <a:r>
              <a:t>• ASN &amp; hosting infrastructure</a:t>
            </a:r>
          </a:p>
          <a:p>
            <a:pPr>
              <a:spcBef>
                <a:spcPts val="800"/>
              </a:spcBef>
              <a:defRPr sz="1100">
                <a:solidFill>
                  <a:srgbClr val="F8FAFC"/>
                </a:solidFill>
              </a:defRPr>
            </a:pPr>
            <a:r>
              <a:t>• Geographic hosting anomalies</a:t>
            </a:r>
          </a:p>
          <a:p>
            <a:pPr>
              <a:spcBef>
                <a:spcPts val="800"/>
              </a:spcBef>
              <a:defRPr sz="1100">
                <a:solidFill>
                  <a:srgbClr val="F8FAFC"/>
                </a:solidFill>
              </a:defRPr>
            </a:pPr>
            <a:r>
              <a:t>• Registrar history checks</a:t>
            </a:r>
          </a:p>
        </p:txBody>
      </p:sp>
      <p:sp>
        <p:nvSpPr>
          <p:cNvPr id="8" name="Rounded Rectangle 7"/>
          <p:cNvSpPr/>
          <p:nvPr/>
        </p:nvSpPr>
        <p:spPr>
          <a:xfrm>
            <a:off x="8961120" y="1463040"/>
            <a:ext cx="2468880" cy="4846320"/>
          </a:xfrm>
          <a:prstGeom prst="roundRect">
            <a:avLst/>
          </a:prstGeom>
          <a:solidFill>
            <a:srgbClr val="14223D"/>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EF4444"/>
                </a:solidFill>
              </a:defRPr>
            </a:pPr>
            <a:r>
              <a:t>4. ML / Webpage Analysis</a:t>
            </a:r>
          </a:p>
          <a:p>
            <a:pPr>
              <a:spcBef>
                <a:spcPts val="800"/>
              </a:spcBef>
              <a:defRPr sz="1100">
                <a:solidFill>
                  <a:srgbClr val="F8FAFC"/>
                </a:solidFill>
              </a:defRPr>
            </a:pPr>
            <a:r>
              <a:t>• Suspicious login form inputs</a:t>
            </a:r>
          </a:p>
          <a:p>
            <a:pPr>
              <a:spcBef>
                <a:spcPts val="800"/>
              </a:spcBef>
              <a:defRPr sz="1100">
                <a:solidFill>
                  <a:srgbClr val="F8FAFC"/>
                </a:solidFill>
              </a:defRPr>
            </a:pPr>
            <a:r>
              <a:t>• Foreign form submission actions</a:t>
            </a:r>
          </a:p>
          <a:p>
            <a:pPr>
              <a:spcBef>
                <a:spcPts val="800"/>
              </a:spcBef>
              <a:defRPr sz="1100">
                <a:solidFill>
                  <a:srgbClr val="F8FAFC"/>
                </a:solidFill>
              </a:defRPr>
            </a:pPr>
            <a:r>
              <a:t>• Brand impersonation checks</a:t>
            </a:r>
          </a:p>
          <a:p>
            <a:pPr>
              <a:spcBef>
                <a:spcPts val="800"/>
              </a:spcBef>
              <a:defRPr sz="1100">
                <a:solidFill>
                  <a:srgbClr val="F8FAFC"/>
                </a:solidFill>
              </a:defRPr>
            </a:pPr>
            <a:r>
              <a:t>• Page title &amp; favicon mismatch</a:t>
            </a:r>
          </a:p>
          <a:p>
            <a:pPr>
              <a:spcBef>
                <a:spcPts val="800"/>
              </a:spcBef>
              <a:defRPr sz="1100">
                <a:solidFill>
                  <a:srgbClr val="F8FAFC"/>
                </a:solidFill>
              </a:defRPr>
            </a:pPr>
            <a:r>
              <a:t>• Hidden redirection patterns</a:t>
            </a:r>
          </a:p>
          <a:p>
            <a:pPr>
              <a:spcBef>
                <a:spcPts val="800"/>
              </a:spcBef>
              <a:defRPr sz="1100">
                <a:solidFill>
                  <a:srgbClr val="F8FAFC"/>
                </a:solidFill>
              </a:defRPr>
            </a:pPr>
            <a:r>
              <a:t>• DOM tree structural markers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a:spAutoFit/>
          </a:bodyPr>
          <a:lstStyle/>
          <a:p>
            <a:pPr>
              <a:defRPr sz="1100" b="1">
                <a:solidFill>
                  <a:srgbClr val="00D4FF"/>
                </a:solidFill>
              </a:defRPr>
            </a:pPr>
            <a:r>
              <a:t>06 / INNOVATION</a:t>
            </a:r>
          </a:p>
        </p:txBody>
      </p:sp>
      <p:sp>
        <p:nvSpPr>
          <p:cNvPr id="4" name="TextBox 3"/>
          <p:cNvSpPr txBox="1"/>
          <p:nvPr/>
        </p:nvSpPr>
        <p:spPr>
          <a:xfrm>
            <a:off x="731520" y="640080"/>
            <a:ext cx="10698480" cy="685800"/>
          </a:xfrm>
          <a:prstGeom prst="rect">
            <a:avLst/>
          </a:prstGeom>
          <a:noFill/>
        </p:spPr>
        <p:txBody>
          <a:bodyPr wrap="none">
            <a:spAutoFit/>
          </a:bodyPr>
          <a:lstStyle/>
          <a:p>
            <a:pPr>
              <a:defRPr sz="2300" b="1">
                <a:solidFill>
                  <a:srgbClr val="F8FAFC"/>
                </a:solidFill>
              </a:defRPr>
            </a:pPr>
            <a:r>
              <a:t>Key Innovation: Progressive Low-Latency Detection</a:t>
            </a:r>
          </a:p>
        </p:txBody>
      </p:sp>
      <p:sp>
        <p:nvSpPr>
          <p:cNvPr id="5" name="Rounded Rectangle 4"/>
          <p:cNvSpPr/>
          <p:nvPr/>
        </p:nvSpPr>
        <p:spPr>
          <a:xfrm>
            <a:off x="731520" y="1463040"/>
            <a:ext cx="5212080" cy="2926080"/>
          </a:xfrm>
          <a:prstGeom prst="roundRect">
            <a:avLst/>
          </a:prstGeom>
          <a:solidFill>
            <a:srgbClr val="14223D"/>
          </a:solidFill>
          <a:ln>
            <a:solidFill>
              <a:srgbClr val="2841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9CAFCC"/>
                </a:solidFill>
              </a:defRPr>
            </a:pPr>
            <a:r>
              <a:t>TRADITIONAL DETECTION APPROACH</a:t>
            </a:r>
          </a:p>
          <a:p>
            <a:pPr>
              <a:spcBef>
                <a:spcPts val="800"/>
              </a:spcBef>
              <a:defRPr sz="1300" b="1">
                <a:solidFill>
                  <a:srgbClr val="EF4444"/>
                </a:solidFill>
              </a:defRPr>
            </a:pPr>
            <a:r>
              <a:t>Every URL  ➔  Deep Analysis  ➔  High Processing &amp; Latency</a:t>
            </a:r>
          </a:p>
          <a:p>
            <a:pPr>
              <a:spcBef>
                <a:spcPts val="1000"/>
              </a:spcBef>
              <a:defRPr sz="1100">
                <a:solidFill>
                  <a:srgbClr val="9CAFCC"/>
                </a:solidFill>
              </a:defRPr>
            </a:pPr>
            <a:r>
              <a:t>Runs heavy analysis or queries external clouds on every single website. This introduces browser lag, increases server infrastructure costs, and harms user browsing speeds.</a:t>
            </a:r>
          </a:p>
        </p:txBody>
      </p:sp>
      <p:sp>
        <p:nvSpPr>
          <p:cNvPr id="6" name="Rounded Rectangle 5"/>
          <p:cNvSpPr/>
          <p:nvPr/>
        </p:nvSpPr>
        <p:spPr>
          <a:xfrm>
            <a:off x="6217920" y="1463040"/>
            <a:ext cx="5212080" cy="2926080"/>
          </a:xfrm>
          <a:prstGeom prst="roundRect">
            <a:avLst/>
          </a:prstGeom>
          <a:solidFill>
            <a:srgbClr val="14223D"/>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D4FF"/>
                </a:solidFill>
              </a:defRPr>
            </a:pPr>
            <a:r>
              <a:t>OUR PROGRESSIVE APPROACH</a:t>
            </a:r>
          </a:p>
          <a:p>
            <a:pPr>
              <a:spcBef>
                <a:spcPts val="800"/>
              </a:spcBef>
              <a:defRPr sz="1200" b="1">
                <a:solidFill>
                  <a:srgbClr val="22C55E"/>
                </a:solidFill>
              </a:defRPr>
            </a:pPr>
            <a:r>
              <a:t>Every URL  ➔  Fast Local Check  ➔  Safe? Allow (&lt;10ms)</a:t>
            </a:r>
            <a:br/>
            <a:r>
              <a:t>                                                  ↓</a:t>
            </a:r>
            <a:br/>
            <a:r>
              <a:t>                                  Suspicious/Unknown  ➔  Deep Analysis</a:t>
            </a:r>
          </a:p>
        </p:txBody>
      </p:sp>
      <p:sp>
        <p:nvSpPr>
          <p:cNvPr id="7" name="Rounded Rectangle 6"/>
          <p:cNvSpPr/>
          <p:nvPr/>
        </p:nvSpPr>
        <p:spPr>
          <a:xfrm>
            <a:off x="731520" y="4663440"/>
            <a:ext cx="10698480" cy="1645920"/>
          </a:xfrm>
          <a:prstGeom prst="roundRect">
            <a:avLst/>
          </a:prstGeom>
          <a:solidFill>
            <a:srgbClr val="102A4D"/>
          </a:solidFill>
          <a:ln>
            <a:solidFill>
              <a:srgbClr val="2841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defRPr>
            </a:pPr>
            <a:r>
              <a:t>“The system does not perform expensive analysis on every website. It progressively increases the depth of analysis only when necessary.”</a:t>
            </a:r>
          </a:p>
          <a:p>
            <a:pPr>
              <a:spcBef>
                <a:spcPts val="800"/>
              </a:spcBef>
              <a:defRPr sz="1200">
                <a:solidFill>
                  <a:srgbClr val="00D4FF"/>
                </a:solidFill>
              </a:defRPr>
            </a:pPr>
            <a:r>
              <a:t>✔ Faster Response Times     ✔ Reduced Unnecessary Processing     ✔ Detection of Unknown Threats     ✔ Explainable Risk Assessment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a:spAutoFit/>
          </a:bodyPr>
          <a:lstStyle/>
          <a:p>
            <a:pPr>
              <a:defRPr sz="1100" b="1">
                <a:solidFill>
                  <a:srgbClr val="00D4FF"/>
                </a:solidFill>
              </a:defRPr>
            </a:pPr>
            <a:r>
              <a:t>07 / USER EXPERIENCE</a:t>
            </a:r>
          </a:p>
        </p:txBody>
      </p:sp>
      <p:sp>
        <p:nvSpPr>
          <p:cNvPr id="4" name="TextBox 3"/>
          <p:cNvSpPr txBox="1"/>
          <p:nvPr/>
        </p:nvSpPr>
        <p:spPr>
          <a:xfrm>
            <a:off x="731520" y="640080"/>
            <a:ext cx="10698480" cy="685800"/>
          </a:xfrm>
          <a:prstGeom prst="rect">
            <a:avLst/>
          </a:prstGeom>
          <a:noFill/>
        </p:spPr>
        <p:txBody>
          <a:bodyPr wrap="none">
            <a:spAutoFit/>
          </a:bodyPr>
          <a:lstStyle/>
          <a:p>
            <a:pPr>
              <a:defRPr sz="2300" b="1">
                <a:solidFill>
                  <a:srgbClr val="F8FAFC"/>
                </a:solidFill>
              </a:defRPr>
            </a:pPr>
            <a:r>
              <a:t>User Experience: Clean &amp; Actionable Security Alerts</a:t>
            </a:r>
          </a:p>
        </p:txBody>
      </p:sp>
      <p:sp>
        <p:nvSpPr>
          <p:cNvPr id="5" name="Rounded Rectangle 4"/>
          <p:cNvSpPr/>
          <p:nvPr/>
        </p:nvSpPr>
        <p:spPr>
          <a:xfrm>
            <a:off x="731520" y="1463040"/>
            <a:ext cx="3383280" cy="4846320"/>
          </a:xfrm>
          <a:prstGeom prst="roundRect">
            <a:avLst/>
          </a:prstGeom>
          <a:solidFill>
            <a:srgbClr val="14223D"/>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22C55E"/>
                </a:solidFill>
              </a:defRPr>
            </a:pPr>
            <a:r>
              <a:t>🟢 SAFE</a:t>
            </a:r>
          </a:p>
          <a:p>
            <a:pPr>
              <a:spcBef>
                <a:spcPts val="400"/>
              </a:spcBef>
              <a:defRPr sz="1300" b="1">
                <a:solidFill>
                  <a:srgbClr val="F8FAFC"/>
                </a:solidFill>
              </a:defRPr>
            </a:pPr>
            <a:r>
              <a:t>Normal Browsing Allowed</a:t>
            </a:r>
          </a:p>
          <a:p>
            <a:pPr>
              <a:spcBef>
                <a:spcPts val="1000"/>
              </a:spcBef>
              <a:defRPr sz="1200">
                <a:solidFill>
                  <a:srgbClr val="00D4FF"/>
                </a:solidFill>
              </a:defRPr>
            </a:pPr>
            <a:r>
              <a:t>“No significant phishing indicators detected.”</a:t>
            </a:r>
          </a:p>
          <a:p>
            <a:pPr>
              <a:spcBef>
                <a:spcPts val="1200"/>
              </a:spcBef>
              <a:defRPr sz="1100">
                <a:solidFill>
                  <a:srgbClr val="9CAFCC"/>
                </a:solidFill>
              </a:defRPr>
            </a:pPr>
            <a:r>
              <a:t>• Known trusted domain</a:t>
            </a:r>
            <a:br/>
            <a:r>
              <a:t>• Clean SSL &amp; DNS records</a:t>
            </a:r>
            <a:br/>
            <a:r>
              <a:t>• Standard URL structure</a:t>
            </a:r>
            <a:br/>
            <a:br/>
            <a:r>
              <a:t>Experience: 0ms added delay.</a:t>
            </a:r>
          </a:p>
          <a:p>
            <a:pPr>
              <a:spcBef>
                <a:spcPts val="2000"/>
              </a:spcBef>
              <a:defRPr sz="1200" b="1">
                <a:solidFill>
                  <a:srgbClr val="22C55E"/>
                </a:solidFill>
              </a:defRPr>
            </a:pPr>
            <a:r>
              <a:t>[VISITING SITE]</a:t>
            </a:r>
          </a:p>
        </p:txBody>
      </p:sp>
      <p:sp>
        <p:nvSpPr>
          <p:cNvPr id="6" name="Rounded Rectangle 5"/>
          <p:cNvSpPr/>
          <p:nvPr/>
        </p:nvSpPr>
        <p:spPr>
          <a:xfrm>
            <a:off x="4389120" y="1463040"/>
            <a:ext cx="3383280" cy="4846320"/>
          </a:xfrm>
          <a:prstGeom prst="roundRect">
            <a:avLst/>
          </a:prstGeom>
          <a:solidFill>
            <a:srgbClr val="14223D"/>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59E0B"/>
                </a:solidFill>
              </a:defRPr>
            </a:pPr>
            <a:r>
              <a:t>🟡 SUSPICIOUS</a:t>
            </a:r>
          </a:p>
          <a:p>
            <a:pPr>
              <a:spcBef>
                <a:spcPts val="400"/>
              </a:spcBef>
              <a:defRPr sz="1300" b="1">
                <a:solidFill>
                  <a:srgbClr val="F8FAFC"/>
                </a:solidFill>
              </a:defRPr>
            </a:pPr>
            <a:r>
              <a:t>Caution Recommended</a:t>
            </a:r>
          </a:p>
          <a:p>
            <a:pPr>
              <a:spcBef>
                <a:spcPts val="1000"/>
              </a:spcBef>
              <a:defRPr sz="1200">
                <a:solidFill>
                  <a:srgbClr val="00D4FF"/>
                </a:solidFill>
              </a:defRPr>
            </a:pPr>
            <a:r>
              <a:t>“Unknown domain with suspicious characteristics.”</a:t>
            </a:r>
          </a:p>
          <a:p>
            <a:pPr>
              <a:spcBef>
                <a:spcPts val="1200"/>
              </a:spcBef>
              <a:defRPr sz="1100">
                <a:solidFill>
                  <a:srgbClr val="9CAFCC"/>
                </a:solidFill>
              </a:defRPr>
            </a:pPr>
            <a:r>
              <a:t>• Newly registered domain</a:t>
            </a:r>
            <a:br/>
            <a:r>
              <a:t>• Domain reputation unavailable</a:t>
            </a:r>
            <a:br/>
            <a:r>
              <a:t>• Minor structural anomalies</a:t>
            </a:r>
            <a:br/>
            <a:br/>
            <a:r>
              <a:t>Action: Extra caution advised.</a:t>
            </a:r>
          </a:p>
          <a:p>
            <a:pPr>
              <a:spcBef>
                <a:spcPts val="2000"/>
              </a:spcBef>
              <a:defRPr sz="1200" b="1">
                <a:solidFill>
                  <a:srgbClr val="F59E0B"/>
                </a:solidFill>
              </a:defRPr>
            </a:pPr>
            <a:r>
              <a:t>[GO BACK]  [CONTINUE]</a:t>
            </a:r>
          </a:p>
        </p:txBody>
      </p:sp>
      <p:sp>
        <p:nvSpPr>
          <p:cNvPr id="7" name="Rounded Rectangle 6"/>
          <p:cNvSpPr/>
          <p:nvPr/>
        </p:nvSpPr>
        <p:spPr>
          <a:xfrm>
            <a:off x="8046720" y="1463040"/>
            <a:ext cx="3383280" cy="4846320"/>
          </a:xfrm>
          <a:prstGeom prst="roundRect">
            <a:avLst/>
          </a:prstGeom>
          <a:solidFill>
            <a:srgbClr val="14223D"/>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EF4444"/>
                </a:solidFill>
              </a:defRPr>
            </a:pPr>
            <a:r>
              <a:t>🔴 HIGH RISK</a:t>
            </a:r>
          </a:p>
          <a:p>
            <a:pPr>
              <a:spcBef>
                <a:spcPts val="400"/>
              </a:spcBef>
              <a:defRPr sz="1300" b="1">
                <a:solidFill>
                  <a:srgbClr val="F8FAFC"/>
                </a:solidFill>
              </a:defRPr>
            </a:pPr>
            <a:r>
              <a:t>Phishing Attack Detected</a:t>
            </a:r>
          </a:p>
          <a:p>
            <a:pPr>
              <a:spcBef>
                <a:spcPts val="1000"/>
              </a:spcBef>
              <a:defRPr sz="1200">
                <a:solidFill>
                  <a:srgbClr val="FB7185"/>
                </a:solidFill>
              </a:defRPr>
            </a:pPr>
            <a:r>
              <a:t>“Possible phishing website detected.”</a:t>
            </a:r>
          </a:p>
          <a:p>
            <a:pPr>
              <a:spcBef>
                <a:spcPts val="1200"/>
              </a:spcBef>
              <a:defRPr sz="1100">
                <a:solidFill>
                  <a:srgbClr val="9CAFCC"/>
                </a:solidFill>
              </a:defRPr>
            </a:pPr>
            <a:r>
              <a:t>Reasons:</a:t>
            </a:r>
            <a:br/>
            <a:r>
              <a:t>• Suspicious domain structure</a:t>
            </a:r>
            <a:br/>
            <a:r>
              <a:t>• Brand impersonation detected</a:t>
            </a:r>
            <a:br/>
            <a:r>
              <a:t>• Suspicious login form detected</a:t>
            </a:r>
            <a:br/>
            <a:br/>
            <a:r>
              <a:t>Action: Immediate user protection.</a:t>
            </a:r>
          </a:p>
          <a:p>
            <a:pPr>
              <a:spcBef>
                <a:spcPts val="2000"/>
              </a:spcBef>
              <a:defRPr sz="1200" b="1">
                <a:solidFill>
                  <a:srgbClr val="EF4444"/>
                </a:solidFill>
              </a:defRPr>
            </a:pPr>
            <a:r>
              <a:t>[LEAVE WEBSITE (RECOMMENDED)]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a:spAutoFit/>
          </a:bodyPr>
          <a:lstStyle/>
          <a:p>
            <a:pPr>
              <a:defRPr sz="1100" b="1">
                <a:solidFill>
                  <a:srgbClr val="00D4FF"/>
                </a:solidFill>
              </a:defRPr>
            </a:pPr>
            <a:r>
              <a:t>08 / ARCHITECTURE</a:t>
            </a:r>
          </a:p>
        </p:txBody>
      </p:sp>
      <p:sp>
        <p:nvSpPr>
          <p:cNvPr id="4" name="TextBox 3"/>
          <p:cNvSpPr txBox="1"/>
          <p:nvPr/>
        </p:nvSpPr>
        <p:spPr>
          <a:xfrm>
            <a:off x="731520" y="640080"/>
            <a:ext cx="10698480" cy="685800"/>
          </a:xfrm>
          <a:prstGeom prst="rect">
            <a:avLst/>
          </a:prstGeom>
          <a:noFill/>
        </p:spPr>
        <p:txBody>
          <a:bodyPr wrap="none">
            <a:spAutoFit/>
          </a:bodyPr>
          <a:lstStyle/>
          <a:p>
            <a:pPr>
              <a:defRPr sz="2300" b="1">
                <a:solidFill>
                  <a:srgbClr val="F8FAFC"/>
                </a:solidFill>
              </a:defRPr>
            </a:pPr>
            <a:r>
              <a:t>System Architecture &amp; Technology Stack</a:t>
            </a:r>
          </a:p>
        </p:txBody>
      </p:sp>
      <p:sp>
        <p:nvSpPr>
          <p:cNvPr id="5" name="Rounded Rectangle 4"/>
          <p:cNvSpPr/>
          <p:nvPr/>
        </p:nvSpPr>
        <p:spPr>
          <a:xfrm>
            <a:off x="731520" y="1463040"/>
            <a:ext cx="5212080" cy="4846320"/>
          </a:xfrm>
          <a:prstGeom prst="roundRect">
            <a:avLst/>
          </a:prstGeom>
          <a:solidFill>
            <a:srgbClr val="14223D"/>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0D4FF"/>
                </a:solidFill>
              </a:defRPr>
            </a:pPr>
            <a:r>
              <a:t>SIMPLE SYSTEM ARCHITECTURE</a:t>
            </a:r>
          </a:p>
          <a:p>
            <a:pPr>
              <a:spcBef>
                <a:spcPts val="600"/>
              </a:spcBef>
              <a:defRPr sz="1200" b="1">
                <a:solidFill>
                  <a:srgbClr val="F8FAFC"/>
                </a:solidFill>
              </a:defRPr>
            </a:pPr>
            <a:r>
              <a:t>↓ Browser Extension (Chrome / Edge)</a:t>
            </a:r>
          </a:p>
          <a:p>
            <a:pPr>
              <a:spcBef>
                <a:spcPts val="600"/>
              </a:spcBef>
              <a:defRPr sz="1200" b="1">
                <a:solidFill>
                  <a:srgbClr val="F8FAFC"/>
                </a:solidFill>
              </a:defRPr>
            </a:pPr>
            <a:r>
              <a:t>↓ Local Detection Engine (On-Device Heuristics)</a:t>
            </a:r>
          </a:p>
          <a:p>
            <a:pPr>
              <a:spcBef>
                <a:spcPts val="600"/>
              </a:spcBef>
              <a:defRPr sz="1200" b="1">
                <a:solidFill>
                  <a:srgbClr val="F8FAFC"/>
                </a:solidFill>
              </a:defRPr>
            </a:pPr>
            <a:r>
              <a:t>↓ Backend API (FastAPI / Python Service)</a:t>
            </a:r>
          </a:p>
          <a:p>
            <a:pPr>
              <a:spcBef>
                <a:spcPts val="600"/>
              </a:spcBef>
              <a:defRPr sz="1200" b="1">
                <a:solidFill>
                  <a:srgbClr val="F8FAFC"/>
                </a:solidFill>
              </a:defRPr>
            </a:pPr>
            <a:r>
              <a:t>↓ Threat Intelligence Database &amp; Cache</a:t>
            </a:r>
          </a:p>
          <a:p>
            <a:pPr>
              <a:spcBef>
                <a:spcPts val="600"/>
              </a:spcBef>
              <a:defRPr sz="1200" b="1">
                <a:solidFill>
                  <a:srgbClr val="F8FAFC"/>
                </a:solidFill>
              </a:defRPr>
            </a:pPr>
            <a:r>
              <a:t>↓ Machine Learning Model (Zero-Day Detection)</a:t>
            </a:r>
          </a:p>
          <a:p>
            <a:pPr>
              <a:spcBef>
                <a:spcPts val="600"/>
              </a:spcBef>
              <a:defRPr sz="1200" b="1">
                <a:solidFill>
                  <a:srgbClr val="F8FAFC"/>
                </a:solidFill>
              </a:defRPr>
            </a:pPr>
            <a:r>
              <a:t>↓ Risk Engine (Risk Score Aggregator)</a:t>
            </a:r>
          </a:p>
          <a:p>
            <a:pPr>
              <a:spcBef>
                <a:spcPts val="600"/>
              </a:spcBef>
              <a:defRPr sz="1200" b="1">
                <a:solidFill>
                  <a:srgbClr val="F8FAFC"/>
                </a:solidFill>
              </a:defRPr>
            </a:pPr>
            <a:r>
              <a:t>★ Browser Warning UI (Safe / Warn / Block)</a:t>
            </a:r>
          </a:p>
        </p:txBody>
      </p:sp>
      <p:sp>
        <p:nvSpPr>
          <p:cNvPr id="6" name="Rounded Rectangle 5"/>
          <p:cNvSpPr/>
          <p:nvPr/>
        </p:nvSpPr>
        <p:spPr>
          <a:xfrm>
            <a:off x="6217920" y="1463040"/>
            <a:ext cx="5212080" cy="4846320"/>
          </a:xfrm>
          <a:prstGeom prst="roundRect">
            <a:avLst/>
          </a:prstGeom>
          <a:solidFill>
            <a:srgbClr val="14223D"/>
          </a:solidFill>
          <a:ln>
            <a:solidFill>
              <a:srgbClr val="2841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0D4FF"/>
                </a:solidFill>
              </a:defRPr>
            </a:pPr>
            <a:r>
              <a:t>TECHNOLOGY STACK</a:t>
            </a:r>
          </a:p>
          <a:p>
            <a:pPr>
              <a:spcBef>
                <a:spcPts val="800"/>
              </a:spcBef>
              <a:defRPr sz="1200" b="1">
                <a:solidFill>
                  <a:srgbClr val="F8FAFC"/>
                </a:solidFill>
              </a:defRPr>
            </a:pPr>
            <a:r>
              <a:t>• Frontend / Extension:</a:t>
            </a:r>
          </a:p>
          <a:p>
            <a:pPr>
              <a:spcBef>
                <a:spcPts val="200"/>
              </a:spcBef>
              <a:defRPr sz="1100">
                <a:solidFill>
                  <a:srgbClr val="9CAFCC"/>
                </a:solidFill>
              </a:defRPr>
            </a:pPr>
            <a:r>
              <a:t>  Chrome / Edge Extension APIs, Manifest V3, JavaScript / TypeScript</a:t>
            </a:r>
          </a:p>
          <a:p>
            <a:pPr>
              <a:spcBef>
                <a:spcPts val="800"/>
              </a:spcBef>
              <a:defRPr sz="1200" b="1">
                <a:solidFill>
                  <a:srgbClr val="F8FAFC"/>
                </a:solidFill>
              </a:defRPr>
            </a:pPr>
            <a:r>
              <a:t>• Backend Services:</a:t>
            </a:r>
          </a:p>
          <a:p>
            <a:pPr>
              <a:spcBef>
                <a:spcPts val="200"/>
              </a:spcBef>
              <a:defRPr sz="1100">
                <a:solidFill>
                  <a:srgbClr val="9CAFCC"/>
                </a:solidFill>
              </a:defRPr>
            </a:pPr>
            <a:r>
              <a:t>  Python, FastAPI (Asynchronous &amp; Lightweight API Framework)</a:t>
            </a:r>
          </a:p>
          <a:p>
            <a:pPr>
              <a:spcBef>
                <a:spcPts val="800"/>
              </a:spcBef>
              <a:defRPr sz="1200" b="1">
                <a:solidFill>
                  <a:srgbClr val="F8FAFC"/>
                </a:solidFill>
              </a:defRPr>
            </a:pPr>
            <a:r>
              <a:t>• Data Storage &amp; Caching:</a:t>
            </a:r>
          </a:p>
          <a:p>
            <a:pPr>
              <a:spcBef>
                <a:spcPts val="200"/>
              </a:spcBef>
              <a:defRPr sz="1100">
                <a:solidFill>
                  <a:srgbClr val="9CAFCC"/>
                </a:solidFill>
              </a:defRPr>
            </a:pPr>
            <a:r>
              <a:t>  PostgreSQL (Threat intelligence &amp; telemetry), Redis (Fast hash lookups)</a:t>
            </a:r>
          </a:p>
          <a:p>
            <a:pPr>
              <a:spcBef>
                <a:spcPts val="800"/>
              </a:spcBef>
              <a:defRPr sz="1200" b="1">
                <a:solidFill>
                  <a:srgbClr val="F8FAFC"/>
                </a:solidFill>
              </a:defRPr>
            </a:pPr>
            <a:r>
              <a:t>• Machine Learning:</a:t>
            </a:r>
          </a:p>
          <a:p>
            <a:pPr>
              <a:spcBef>
                <a:spcPts val="200"/>
              </a:spcBef>
              <a:defRPr sz="1100">
                <a:solidFill>
                  <a:srgbClr val="9CAFCC"/>
                </a:solidFill>
              </a:defRPr>
            </a:pPr>
            <a:r>
              <a:t>  Lightweight ML Model (Classifier for zero-day URL/DOM patterns)</a:t>
            </a:r>
          </a:p>
          <a:p>
            <a:pPr>
              <a:spcBef>
                <a:spcPts val="800"/>
              </a:spcBef>
              <a:defRPr sz="1200" b="1">
                <a:solidFill>
                  <a:srgbClr val="F8FAFC"/>
                </a:solidFill>
              </a:defRPr>
            </a:pPr>
            <a:r>
              <a:t>• Threat &amp; Domain Services:</a:t>
            </a:r>
          </a:p>
          <a:p>
            <a:pPr>
              <a:spcBef>
                <a:spcPts val="200"/>
              </a:spcBef>
              <a:defRPr sz="1100">
                <a:solidFill>
                  <a:srgbClr val="9CAFCC"/>
                </a:solidFill>
              </a:defRPr>
            </a:pPr>
            <a:r>
              <a:t>  Threat-intelligence APIs, DNS resolution &amp; domain intelligence services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a:spAutoFit/>
          </a:bodyPr>
          <a:lstStyle/>
          <a:p>
            <a:pPr>
              <a:defRPr sz="1100" b="1">
                <a:solidFill>
                  <a:srgbClr val="00D4FF"/>
                </a:solidFill>
              </a:defRPr>
            </a:pPr>
            <a:r>
              <a:t>09 / IMPACT &amp; ROADMAP</a:t>
            </a:r>
          </a:p>
        </p:txBody>
      </p:sp>
      <p:sp>
        <p:nvSpPr>
          <p:cNvPr id="4" name="TextBox 3"/>
          <p:cNvSpPr txBox="1"/>
          <p:nvPr/>
        </p:nvSpPr>
        <p:spPr>
          <a:xfrm>
            <a:off x="731520" y="640080"/>
            <a:ext cx="10698480" cy="685800"/>
          </a:xfrm>
          <a:prstGeom prst="rect">
            <a:avLst/>
          </a:prstGeom>
          <a:noFill/>
        </p:spPr>
        <p:txBody>
          <a:bodyPr wrap="none">
            <a:spAutoFit/>
          </a:bodyPr>
          <a:lstStyle/>
          <a:p>
            <a:pPr>
              <a:defRPr sz="2300" b="1">
                <a:solidFill>
                  <a:srgbClr val="F8FAFC"/>
                </a:solidFill>
              </a:defRPr>
            </a:pPr>
            <a:r>
              <a:t>Impact, Future Scope &amp; Vision</a:t>
            </a:r>
          </a:p>
        </p:txBody>
      </p:sp>
      <p:sp>
        <p:nvSpPr>
          <p:cNvPr id="5" name="Rounded Rectangle 4"/>
          <p:cNvSpPr/>
          <p:nvPr/>
        </p:nvSpPr>
        <p:spPr>
          <a:xfrm>
            <a:off x="731520" y="1463040"/>
            <a:ext cx="5212080" cy="3474720"/>
          </a:xfrm>
          <a:prstGeom prst="roundRect">
            <a:avLst/>
          </a:prstGeom>
          <a:solidFill>
            <a:srgbClr val="14223D"/>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22C55E"/>
                </a:solidFill>
              </a:defRPr>
            </a:pPr>
            <a:r>
              <a:t>PROJECT IMPACT</a:t>
            </a:r>
          </a:p>
          <a:p>
            <a:pPr>
              <a:spcBef>
                <a:spcPts val="800"/>
              </a:spcBef>
              <a:defRPr sz="1200">
                <a:solidFill>
                  <a:srgbClr val="F8FAFC"/>
                </a:solidFill>
              </a:defRPr>
            </a:pPr>
            <a:r>
              <a:t>✔ Protect Users from Phishing in real time before data submission</a:t>
            </a:r>
          </a:p>
          <a:p>
            <a:pPr>
              <a:spcBef>
                <a:spcPts val="800"/>
              </a:spcBef>
              <a:defRPr sz="1200">
                <a:solidFill>
                  <a:srgbClr val="F8FAFC"/>
                </a:solidFill>
              </a:defRPr>
            </a:pPr>
            <a:r>
              <a:t>✔ Detect Previously Unseen Threats without waiting for database updates</a:t>
            </a:r>
          </a:p>
          <a:p>
            <a:pPr>
              <a:spcBef>
                <a:spcPts val="800"/>
              </a:spcBef>
              <a:defRPr sz="1200">
                <a:solidFill>
                  <a:srgbClr val="F8FAFC"/>
                </a:solidFill>
              </a:defRPr>
            </a:pPr>
            <a:r>
              <a:t>✔ Reduce Detection Latency with fast on-device pre-checks</a:t>
            </a:r>
          </a:p>
          <a:p>
            <a:pPr>
              <a:spcBef>
                <a:spcPts val="800"/>
              </a:spcBef>
              <a:defRPr sz="1200">
                <a:solidFill>
                  <a:srgbClr val="F8FAFC"/>
                </a:solidFill>
              </a:defRPr>
            </a:pPr>
            <a:r>
              <a:t>✔ Explain Why a Website is Suspicious with transparent indicators</a:t>
            </a:r>
          </a:p>
          <a:p>
            <a:pPr>
              <a:spcBef>
                <a:spcPts val="800"/>
              </a:spcBef>
              <a:defRPr sz="1200">
                <a:solidFill>
                  <a:srgbClr val="F8FAFC"/>
                </a:solidFill>
              </a:defRPr>
            </a:pPr>
            <a:r>
              <a:t>✔ Reduce Unnecessary Deep Analysis by filtering safe sites early</a:t>
            </a:r>
          </a:p>
        </p:txBody>
      </p:sp>
      <p:sp>
        <p:nvSpPr>
          <p:cNvPr id="6" name="Rounded Rectangle 5"/>
          <p:cNvSpPr/>
          <p:nvPr/>
        </p:nvSpPr>
        <p:spPr>
          <a:xfrm>
            <a:off x="6217920" y="1463040"/>
            <a:ext cx="5212080" cy="3474720"/>
          </a:xfrm>
          <a:prstGeom prst="roundRect">
            <a:avLst/>
          </a:prstGeom>
          <a:solidFill>
            <a:srgbClr val="14223D"/>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0D4FF"/>
                </a:solidFill>
              </a:defRPr>
            </a:pPr>
            <a:r>
              <a:t>FUTURE SCOPE &amp; EXTENSIONS</a:t>
            </a:r>
          </a:p>
          <a:p>
            <a:pPr>
              <a:spcBef>
                <a:spcPts val="600"/>
              </a:spcBef>
              <a:defRPr sz="1100">
                <a:solidFill>
                  <a:srgbClr val="F8FAFC"/>
                </a:solidFill>
              </a:defRPr>
            </a:pPr>
            <a:r>
              <a:t>📱 Mobile Browser Support (Android / iOS extension integrations)</a:t>
            </a:r>
          </a:p>
          <a:p>
            <a:pPr>
              <a:spcBef>
                <a:spcPts val="600"/>
              </a:spcBef>
              <a:defRPr sz="1100">
                <a:solidFill>
                  <a:srgbClr val="F8FAFC"/>
                </a:solidFill>
              </a:defRPr>
            </a:pPr>
            <a:r>
              <a:t>✉️ Email and SMS Phishing (Smishing) Detection modules</a:t>
            </a:r>
          </a:p>
          <a:p>
            <a:pPr>
              <a:spcBef>
                <a:spcPts val="600"/>
              </a:spcBef>
              <a:defRPr sz="1100">
                <a:solidFill>
                  <a:srgbClr val="F8FAFC"/>
                </a:solidFill>
              </a:defRPr>
            </a:pPr>
            <a:r>
              <a:t>📷 QR-Code Phishing (Quishing) detection in web links</a:t>
            </a:r>
          </a:p>
          <a:p>
            <a:pPr>
              <a:spcBef>
                <a:spcPts val="600"/>
              </a:spcBef>
              <a:defRPr sz="1100">
                <a:solidFill>
                  <a:srgbClr val="F8FAFC"/>
                </a:solidFill>
              </a:defRPr>
            </a:pPr>
            <a:r>
              <a:t>🌐 Multilingual Scam Detection tailored for regional languages</a:t>
            </a:r>
          </a:p>
          <a:p>
            <a:pPr>
              <a:spcBef>
                <a:spcPts val="600"/>
              </a:spcBef>
              <a:defRPr sz="1100">
                <a:solidFill>
                  <a:srgbClr val="F8FAFC"/>
                </a:solidFill>
              </a:defRPr>
            </a:pPr>
            <a:r>
              <a:t>🧠 Continuously Improved ML Models with federated edge learning</a:t>
            </a:r>
          </a:p>
          <a:p>
            <a:pPr>
              <a:spcBef>
                <a:spcPts val="600"/>
              </a:spcBef>
              <a:defRPr sz="1100">
                <a:solidFill>
                  <a:srgbClr val="F8FAFC"/>
                </a:solidFill>
              </a:defRPr>
            </a:pPr>
            <a:r>
              <a:t>🏢 Organization-Level Security Dashboard for IT administrators</a:t>
            </a:r>
          </a:p>
        </p:txBody>
      </p:sp>
      <p:sp>
        <p:nvSpPr>
          <p:cNvPr id="7" name="Rounded Rectangle 6"/>
          <p:cNvSpPr/>
          <p:nvPr/>
        </p:nvSpPr>
        <p:spPr>
          <a:xfrm>
            <a:off x="731520" y="5120640"/>
            <a:ext cx="10698480" cy="1188720"/>
          </a:xfrm>
          <a:prstGeom prst="roundRect">
            <a:avLst/>
          </a:prstGeom>
          <a:solidFill>
            <a:srgbClr val="102A4D"/>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0D4FF"/>
                </a:solidFill>
              </a:defRPr>
            </a:pPr>
            <a:r>
              <a:t>“Detect early. Analyze intelligently. Protect users in real time.”</a:t>
            </a:r>
          </a:p>
          <a:p>
            <a:pPr algn="ctr">
              <a:spcBef>
                <a:spcPts val="400"/>
              </a:spcBef>
              <a:defRPr sz="1200">
                <a:solidFill>
                  <a:srgbClr val="F8FAFC"/>
                </a:solidFill>
              </a:defRPr>
            </a:pPr>
            <a:r>
              <a:t>Thank you! Open for Questions &amp;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