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2E7FA4A-C9E7-4EC1-92BA-5FFC16C94626}"/>
              </a:ext>
            </a:extLst>
          </p:cNvPr>
          <p:cNvSpPr txBox="1"/>
          <p:nvPr/>
        </p:nvSpPr>
        <p:spPr>
          <a:xfrm>
            <a:off x="2586038" y="731515"/>
            <a:ext cx="78152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Comic Sans MS" panose="030F0702030302020204" pitchFamily="66" charset="0"/>
              </a:rPr>
              <a:t>INNOVISTA</a:t>
            </a:r>
            <a:endParaRPr lang="en-IN" sz="8000" dirty="0"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4D9AFE-96E3-4E50-8173-A92025A97284}"/>
              </a:ext>
            </a:extLst>
          </p:cNvPr>
          <p:cNvSpPr txBox="1"/>
          <p:nvPr/>
        </p:nvSpPr>
        <p:spPr>
          <a:xfrm flipH="1">
            <a:off x="2852737" y="2247362"/>
            <a:ext cx="6486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tang" panose="02030600000101010101" pitchFamily="18" charset="-127"/>
                <a:ea typeface="Batang" panose="02030600000101010101" pitchFamily="18" charset="-127"/>
              </a:rPr>
              <a:t>TEAM NAME : NEXORA</a:t>
            </a:r>
            <a:endParaRPr lang="en-IN" sz="3600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28D9F9-730C-451E-9DF5-4CA059394248}"/>
              </a:ext>
            </a:extLst>
          </p:cNvPr>
          <p:cNvSpPr txBox="1"/>
          <p:nvPr/>
        </p:nvSpPr>
        <p:spPr>
          <a:xfrm>
            <a:off x="938212" y="3086101"/>
            <a:ext cx="84010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tantia" panose="02030602050306030303" pitchFamily="18" charset="0"/>
              </a:rPr>
              <a:t>                           TEAM MEMBERS </a:t>
            </a:r>
          </a:p>
          <a:p>
            <a:r>
              <a:rPr lang="en-US" sz="3200" dirty="0">
                <a:latin typeface="Constantia" panose="02030602050306030303" pitchFamily="18" charset="0"/>
              </a:rPr>
              <a:t>                              1) SANMATHI R</a:t>
            </a:r>
          </a:p>
          <a:p>
            <a:r>
              <a:rPr lang="en-US" sz="3200" dirty="0">
                <a:latin typeface="Constantia" panose="02030602050306030303" pitchFamily="18" charset="0"/>
              </a:rPr>
              <a:t>                              2) SARVESH B</a:t>
            </a:r>
          </a:p>
          <a:p>
            <a:r>
              <a:rPr lang="en-US" sz="3200" dirty="0">
                <a:latin typeface="Constantia" panose="02030602050306030303" pitchFamily="18" charset="0"/>
              </a:rPr>
              <a:t>                              3) SUBITHA S</a:t>
            </a:r>
          </a:p>
          <a:p>
            <a:r>
              <a:rPr lang="en-US" sz="3200" dirty="0">
                <a:latin typeface="Constantia" panose="02030602050306030303" pitchFamily="18" charset="0"/>
              </a:rPr>
              <a:t>                              4) SHAKSHITH KUMAR K</a:t>
            </a:r>
            <a:endParaRPr lang="en-IN" sz="3200" dirty="0">
              <a:latin typeface="Constantia" panose="0203060205030603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E48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261872"/>
            <a:ext cx="822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Segoe UI"/>
              </a:defRPr>
            </a:pPr>
            <a:r>
              <a:t>Phishing attacks increasingly use newly created domains, deceptive URLs, and fake webpages to steal sensitive information. Traditional blacklist-based systems may miss these unknown threats, while deep analysis can cause delays and false positives. There is a need for a fast, real-time system that detects known and unseen phishing threats accurately.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47548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💻 THE ATTACK VECTOR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Fake Login Forms &amp; Impersonated Brands</a:t>
            </a:r>
            <a:br/>
            <a:r>
              <a:t>🎣 Hook: Credentials, OTPs, and banking tokens exfiltrated</a:t>
            </a:r>
            <a:br/>
            <a:r>
              <a:t>⚠️ Threat: Zero-day URLs evade static blocklists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08760"/>
            <a:ext cx="493776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66560" y="1325880"/>
            <a:ext cx="237744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Need / Solution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0" y="201168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196596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Detect both known and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new (unseen) phishing threats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3063240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301752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Provide real-time analysis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for faster protection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4114800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406908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Reduce false positives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while maintaining high accuracy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0" y="5166360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512064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Go beyond blacklists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with AI-driven and intelligent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E48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261872"/>
            <a:ext cx="822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94360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325880"/>
            <a:ext cx="347472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🛡️ AI-Powered Detection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01168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9659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Analyze URL &amp; webpage features instantly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Extracts lexical and structural indicators in milliseconds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063240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30175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ML-based detection for known and unseen threats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Identifies zero-day attack patterns without waiting for feeds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4114800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406908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Combine blacklists + intelligent analysis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Leverages cached threat feeds with predictive heuristics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5166360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51206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Generate an instant risk score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Transparent 0-100 rating with explainable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508760"/>
            <a:ext cx="448056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223760" y="1325880"/>
            <a:ext cx="274320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Actionable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965960"/>
            <a:ext cx="39319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A34A"/>
                </a:solidFill>
                <a:latin typeface="Segoe UI"/>
              </a:defRPr>
            </a:pPr>
            <a:r>
              <a:t>🟢 SAFE — Verified Safe Website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No significant threat indicators detected. Normal browsing allowed with zero added latency.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3291839"/>
            <a:ext cx="39319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D97706"/>
                </a:solidFill>
                <a:latin typeface="Segoe UI"/>
              </a:defRPr>
            </a:pPr>
            <a:r>
              <a:rPr dirty="0"/>
              <a:t>🟠 SUSPICIOUS — Caution Recommended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rPr dirty="0"/>
              <a:t>Unknown domain with anomalous characteristics. Warns user to verify before entering details.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4617720"/>
            <a:ext cx="39319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E11D48"/>
                </a:solidFill>
                <a:latin typeface="Segoe UI"/>
              </a:defRPr>
            </a:pPr>
            <a:r>
              <a:t>🔴 PHISHING — High-Risk Threat Blocked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Impersonation and credential-harvesting detected. Intercepts connection immediately.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E48"/>
                </a:solidFill>
                <a:latin typeface="Segoe UI"/>
              </a:defRPr>
            </a:pPr>
            <a: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261872"/>
            <a:ext cx="822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38912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325880"/>
            <a:ext cx="292608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💻 Frontend Stack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96596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9202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HTML5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Structured interface &amp; responsive web layout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34639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78891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CSS3 / Tailwind CSS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Modern cybersecurity visual styling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703320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6576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JavaScript (ES6+)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URL handling &amp; real-time async DOM events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72000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5262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Chrome Manifest V3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Lightweight browser extension background worker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440679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⚛️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539495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React.js / Next.js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Interactive evaluator &amp; threat risk 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1508760"/>
            <a:ext cx="603504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669280" y="1325880"/>
            <a:ext cx="329184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⚙️ Detection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92024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B1E48"/>
                </a:solidFill>
                <a:latin typeface="Segoe UI"/>
              </a:defRPr>
            </a:pPr>
            <a:r>
              <a:t>URL  ➔  Feature Extraction  ➔  Blacklist Check  ➔  ML Model  ➔  Risk Score  ➔ 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926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🔍 KEY FEATURES ANALYZED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0" y="333756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2918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URL Structure &amp; Length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Entropy, dot counts, special characters (@, -, //), and direct IP URLs</a:t>
            </a:r>
          </a:p>
        </p:txBody>
      </p:sp>
      <p:sp>
        <p:nvSpPr>
          <p:cNvPr id="25" name="Oval 24"/>
          <p:cNvSpPr/>
          <p:nvPr/>
        </p:nvSpPr>
        <p:spPr>
          <a:xfrm>
            <a:off x="5669280" y="4087368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🏷️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4041648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Domain Characteristics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Subdomain depth, TLD reputation (.xyz, .top), and age markers</a:t>
            </a:r>
          </a:p>
        </p:txBody>
      </p:sp>
      <p:sp>
        <p:nvSpPr>
          <p:cNvPr id="27" name="Oval 26"/>
          <p:cNvSpPr/>
          <p:nvPr/>
        </p:nvSpPr>
        <p:spPr>
          <a:xfrm>
            <a:off x="5669280" y="4837176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791456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HTTPS / SSL Information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Certificate authority validity, self-signed alerts, and protocol security</a:t>
            </a:r>
          </a:p>
        </p:txBody>
      </p:sp>
      <p:sp>
        <p:nvSpPr>
          <p:cNvPr id="29" name="Oval 28"/>
          <p:cNvSpPr/>
          <p:nvPr/>
        </p:nvSpPr>
        <p:spPr>
          <a:xfrm>
            <a:off x="5669280" y="5586983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541263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Redirects &amp; Form Patterns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Hidden multi-hop redirects and credential input targets pointing off-domain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E48"/>
                </a:solidFill>
                <a:latin typeface="Segoe UI"/>
              </a:defRPr>
            </a:pPr>
            <a:r>
              <a:t>Feasibility &amp;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261872"/>
            <a:ext cx="822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93776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325880"/>
            <a:ext cx="310896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✅ Technically Feasible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01168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96596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Lightweight Browser Architecture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Runs via Manifest V3 without impacting browser memory or speed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063240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01752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Open-Source Technologies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Built with proven web standards, Scikit-learn/XGBoost, and FastAPI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114800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06908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Zero-Friction User Experience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Operates automatically in the background with minimal user interaction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166360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512064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Rapid MVP Delivery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Core MVP achievable using HTML + CSS + JavaScript + 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508760"/>
            <a:ext cx="548640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0" y="1325880"/>
            <a:ext cx="292608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🚀 Implementation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196596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192024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Phase 1: Dataset &amp; Feature Engineering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PhishTank, Tranco 1M, and URL structural lexical extraction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2834639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2788919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Phase 2: ML Model Development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Training zero-day classifiers with low false-positive constraints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3703320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365760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Phase 3: Browser Extension Integration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Manifest V3 background worker, content script &amp; warning UI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4572000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452628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Phase 4: Real-Time Testing &amp; Optimization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Sub-50ms latency benchmarking, false-positive tuning &amp; audit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394960"/>
            <a:ext cx="4937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🎯 OUR MVP SPECIFICATION</a:t>
            </a:r>
          </a:p>
          <a:p>
            <a:pPr>
              <a:spcBef>
                <a:spcPts val="200"/>
              </a:spcBef>
              <a:defRPr sz="1300" b="1">
                <a:solidFill>
                  <a:srgbClr val="0B1E48"/>
                </a:solidFill>
                <a:latin typeface="Segoe UI"/>
              </a:defRPr>
            </a:pPr>
            <a:r>
              <a:t>Chrome Extension + Detection API + Live Risk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E48"/>
                </a:solidFill>
                <a:latin typeface="Segoe UI"/>
              </a:defRPr>
            </a:pPr>
            <a:r>
              <a:t>Impact &amp;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261872"/>
            <a:ext cx="822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8328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325880"/>
            <a:ext cx="301752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🛡️ User Protection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96596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✔ Detects Unknown Threats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Identifies newly registered phishing domains before blacklists index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38328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✔ Real-Time Warnings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Warns users instantly before passwords or OTPs are entered.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80060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✔ Protects Sensitive Data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Secures banking credentials, personal information, and corporate accounts.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0" y="1325880"/>
            <a:ext cx="301752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⚡ 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6596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A34A"/>
                </a:solidFill>
                <a:latin typeface="Segoe UI"/>
              </a:defRPr>
            </a:pPr>
            <a:r>
              <a:t>✔ Low-Latency Analysis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Progressive checks prevent annoying browsing delays (&lt;50ms).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338328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A34A"/>
                </a:solidFill>
                <a:latin typeface="Segoe UI"/>
              </a:defRPr>
            </a:pPr>
            <a:r>
              <a:t>✔ Reduced False Alerts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Intelligent allowlists protect everyday work tools and legitimate SSO.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480060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A34A"/>
                </a:solidFill>
                <a:latin typeface="Segoe UI"/>
              </a:defRPr>
            </a:pPr>
            <a:r>
              <a:t>✔ Frictionless UI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Clean, non-intrusive alerts that clearly explain the risk level.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08760"/>
            <a:ext cx="338328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0" y="1325880"/>
            <a:ext cx="301752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🌍 Wider Impact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96596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9333EA"/>
                </a:solidFill>
                <a:latin typeface="Segoe UI"/>
              </a:defRPr>
            </a:pPr>
            <a:r>
              <a:t>✔ Broad Accessibility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Protects students, regular internet users, and large enterprise workforces.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38328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9333EA"/>
                </a:solidFill>
                <a:latin typeface="Segoe UI"/>
              </a:defRPr>
            </a:pPr>
            <a:r>
              <a:t>✔ Safer Digital Economy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Fosters trust in online banking, e-commerce, and public digital services.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80060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9333EA"/>
                </a:solidFill>
                <a:latin typeface="Segoe UI"/>
              </a:defRPr>
            </a:pPr>
            <a:r>
              <a:t>✔ Continuously Adaptive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Improves threat models over time with incoming attack intelligence.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E48"/>
                </a:solidFill>
                <a:latin typeface="Segoe UI"/>
              </a:defRPr>
            </a:pPr>
            <a:r>
              <a:t>What's New? Our 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261872"/>
            <a:ext cx="822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1078992"/>
          </a:xfrm>
          <a:prstGeom prst="roundRect">
            <a:avLst/>
          </a:prstGeom>
          <a:solidFill>
            <a:srgbClr val="F1F6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69164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459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Beyond Blacklists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Detects underlying behavioral &amp; structural patterns in unseen domains.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1078992"/>
          </a:xfrm>
          <a:prstGeom prst="roundRect">
            <a:avLst/>
          </a:prstGeom>
          <a:solidFill>
            <a:srgbClr val="F1F6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0" y="1691640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16459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Hybrid Intelligence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Combines threat intelligence feeds + ML classification + local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5212080" cy="1078992"/>
          </a:xfrm>
          <a:prstGeom prst="roundRect">
            <a:avLst/>
          </a:prstGeom>
          <a:solidFill>
            <a:srgbClr val="F1F6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2926080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88036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Real-Time Detection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Sub-50ms lightweight execution directly while users browse.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212080" cy="1078992"/>
          </a:xfrm>
          <a:prstGeom prst="roundRect">
            <a:avLst/>
          </a:prstGeom>
          <a:solidFill>
            <a:srgbClr val="F1F6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0800" y="2926080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88036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Explainable Alerts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Shows transparent indicators (e.g., brand mismatch, fake login form).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77640"/>
            <a:ext cx="5212080" cy="1078992"/>
          </a:xfrm>
          <a:prstGeom prst="roundRect">
            <a:avLst/>
          </a:prstGeom>
          <a:solidFill>
            <a:srgbClr val="F1F6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416052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11480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Risk-Based Classification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Calibrated 3-tier output (Safe / Suspicious / High-Risk Phishing).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77640"/>
            <a:ext cx="5212080" cy="1078992"/>
          </a:xfrm>
          <a:prstGeom prst="roundRect">
            <a:avLst/>
          </a:prstGeom>
          <a:solidFill>
            <a:srgbClr val="F1F6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00800" y="4160520"/>
            <a:ext cx="530352" cy="530352"/>
          </a:xfrm>
          <a:prstGeom prst="ellipse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11D48"/>
                </a:solidFill>
                <a:latin typeface="Segoe UI"/>
              </a:defRPr>
            </a:pPr>
            <a:r>
              <a:t>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411480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Lightweight Extension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In-browser protection with zero intrusive proxies or privacy leaks.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49240"/>
            <a:ext cx="10698480" cy="1051560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DCB55"/>
                </a:solidFill>
                <a:latin typeface="Segoe UI"/>
              </a:defRPr>
            </a:pPr>
            <a:r>
              <a:t>CORE ARCHITECTURAL PHILOSOPHY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“Detect the pattern, not just the website.”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E48"/>
                </a:solidFill>
                <a:latin typeface="Segoe UI"/>
              </a:defRPr>
            </a:pPr>
            <a:r>
              <a:t>Prototype • Future Roadmap •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261872"/>
            <a:ext cx="822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7472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325880"/>
            <a:ext cx="237744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🧪 Current 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3108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1. Chrome Extension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Intercepts active tab URL via Manifest V3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3108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2. Analyze Features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Extracts lexical, structural &amp; brand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69079"/>
            <a:ext cx="3108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3. Calculate Risk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Heuristic &amp; ML engine produces 0-100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3108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4. Display Warning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Instant Safe / Caution / Red Block overlay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08760"/>
            <a:ext cx="411480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72000" y="1325880"/>
            <a:ext cx="256032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🚀 Future Roadmap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196596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1920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Mobile Browser Protection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Extension support for mobile Chrome &amp; Safari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2834639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7889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Advanced Deep-Learning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Transformer-based sequence character models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3703320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36576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Multilingual Phishing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Detection tailored for regional scripts &amp; languages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4572000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45262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Continuous Intelligence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Automated threat intelligence telemetry updates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0" y="5440679"/>
            <a:ext cx="530352" cy="530352"/>
          </a:xfrm>
          <a:prstGeom prst="ellipse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11D48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539495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Email &amp; SMS Defense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Cross-vector detection for Smishing &amp; Quishing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1508760"/>
            <a:ext cx="274320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869680" y="1325880"/>
            <a:ext cx="201168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📚 References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1965960"/>
            <a:ext cx="2377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B1E48"/>
                </a:solidFill>
                <a:latin typeface="Segoe UI"/>
              </a:defRPr>
            </a:pPr>
            <a:r>
              <a:t>• Google Safe Browsing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Industry standard hash-prefix reputation protocols &amp; benchmark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3017520"/>
            <a:ext cx="2377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B1E48"/>
                </a:solidFill>
                <a:latin typeface="Segoe UI"/>
              </a:defRPr>
            </a:pPr>
            <a:r>
              <a:t>• PhishTank Feed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Community-verified repository of active phishing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4069079"/>
            <a:ext cx="2377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B1E48"/>
                </a:solidFill>
                <a:latin typeface="Segoe UI"/>
              </a:defRPr>
            </a:pPr>
            <a:r>
              <a:t>• UCI ML Repository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Phishing Websites dataset for lexical feature engineering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0" y="5120640"/>
            <a:ext cx="2377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B1E48"/>
                </a:solidFill>
                <a:latin typeface="Segoe UI"/>
              </a:defRPr>
            </a:pPr>
            <a:r>
              <a:t>• Tranco Top 1M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Research-oriented top authority domain allowlist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945</Words>
  <Application>Microsoft Office PowerPoint</Application>
  <PresentationFormat>Widescreen</PresentationFormat>
  <Paragraphs>184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Batang</vt:lpstr>
      <vt:lpstr>Arial</vt:lpstr>
      <vt:lpstr>Calibri</vt:lpstr>
      <vt:lpstr>Comic Sans MS</vt:lpstr>
      <vt:lpstr>Constantia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Venktesh B</dc:creator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2026-10-03T14:06:41Z</dcterms:modified>
  <cp:category/>
</cp:coreProperties>
</file>