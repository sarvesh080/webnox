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2926080" cy="365760"/>
          </a:xfrm>
          <a:prstGeom prst="roundRect">
            <a:avLst/>
          </a:prstGeom>
          <a:solidFill>
            <a:srgbClr val="1E3A8A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REAL-TIME CYBERSECURITY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8FAFC"/>
                </a:solidFill>
              </a:defRPr>
            </a:pPr>
            <a:r>
              <a:t>PhishGuard</a:t>
            </a:r>
          </a:p>
          <a:p>
            <a:pPr>
              <a:spcBef>
                <a:spcPts val="1000"/>
              </a:spcBef>
              <a:defRPr sz="2200">
                <a:solidFill>
                  <a:srgbClr val="38BDF8"/>
                </a:solidFill>
              </a:defRPr>
            </a:pPr>
            <a:r>
              <a:t>Progressive Real-Time Phishing Detection with Sub-50ms Risk Analysis</a:t>
            </a:r>
          </a:p>
          <a:p>
            <a:pPr>
              <a:spcBef>
                <a:spcPts val="1000"/>
              </a:spcBef>
              <a:defRPr sz="1500">
                <a:solidFill>
                  <a:srgbClr val="94A3B8"/>
                </a:solidFill>
              </a:defRPr>
            </a:pPr>
            <a:r>
              <a:t>Eliminating the critical zero-day threat window with hybrid edge-cloud intelligence.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754880"/>
            <a:ext cx="10698480" cy="11887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8FAFC"/>
                </a:solidFill>
              </a:defRPr>
            </a:pPr>
            <a:r>
              <a:t>Hackathon Pitch Deck | Track: Cybersecurity &amp; AI / Browser Engineering</a:t>
            </a:r>
          </a:p>
          <a:p>
            <a:pPr>
              <a:spcBef>
                <a:spcPts val="400"/>
              </a:spcBef>
              <a:defRPr sz="1200">
                <a:solidFill>
                  <a:srgbClr val="38BDF8"/>
                </a:solidFill>
              </a:defRPr>
            </a:pPr>
            <a:r>
              <a:t>Presented by Team PhishGuard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01 / 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The Critical Zero-Day Blindspot in Modern Phishing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B7185"/>
                </a:solidFill>
              </a:defRPr>
            </a:pPr>
            <a:r>
              <a:t>01</a:t>
            </a:r>
          </a:p>
          <a:p>
            <a:pPr>
              <a:spcBef>
                <a:spcPts val="1000"/>
              </a:spcBef>
              <a:defRPr sz="1800" b="1">
                <a:solidFill>
                  <a:srgbClr val="F8FAFC"/>
                </a:solidFill>
              </a:defRPr>
            </a:pPr>
            <a:r>
              <a:t>The 4-Hour Life Cycle</a:t>
            </a:r>
          </a:p>
          <a:p>
            <a:pPr>
              <a:spcBef>
                <a:spcPts val="1400"/>
              </a:spcBef>
              <a:defRPr sz="1300">
                <a:solidFill>
                  <a:srgbClr val="94A3B8"/>
                </a:solidFill>
              </a:defRPr>
            </a:pPr>
            <a:r>
              <a:t>Modern phishing attacks are spun up and torn down in under 4 hours. By the time threat-intelligence databases index them, 90%+ of credentials have already been stolen.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BBF24"/>
                </a:solidFill>
              </a:defRPr>
            </a:pPr>
            <a:r>
              <a:t>02</a:t>
            </a:r>
          </a:p>
          <a:p>
            <a:pPr>
              <a:spcBef>
                <a:spcPts val="1000"/>
              </a:spcBef>
              <a:defRPr sz="1800" b="1">
                <a:solidFill>
                  <a:srgbClr val="F8FAFC"/>
                </a:solidFill>
              </a:defRPr>
            </a:pPr>
            <a:r>
              <a:t>The Cloud Latency Dilemma</a:t>
            </a:r>
          </a:p>
          <a:p>
            <a:pPr>
              <a:spcBef>
                <a:spcPts val="1400"/>
              </a:spcBef>
              <a:defRPr sz="1300">
                <a:solidFill>
                  <a:srgbClr val="94A3B8"/>
                </a:solidFill>
              </a:defRPr>
            </a:pPr>
            <a:r>
              <a:t>Deep cloud sandboxing and backend re-crawling introduces 2-4 seconds of lag per link. Users experience annoying delays and frequently disable security tools.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38BDF8"/>
                </a:solidFill>
              </a:defRPr>
            </a:pPr>
            <a:r>
              <a:t>03</a:t>
            </a:r>
          </a:p>
          <a:p>
            <a:pPr>
              <a:spcBef>
                <a:spcPts val="1000"/>
              </a:spcBef>
              <a:defRPr sz="1800" b="1">
                <a:solidFill>
                  <a:srgbClr val="F8FAFC"/>
                </a:solidFill>
              </a:defRPr>
            </a:pPr>
            <a:r>
              <a:t>'Living off the Land' Tactics</a:t>
            </a:r>
          </a:p>
          <a:p>
            <a:pPr>
              <a:spcBef>
                <a:spcPts val="1400"/>
              </a:spcBef>
              <a:defRPr sz="1300">
                <a:solidFill>
                  <a:srgbClr val="94A3B8"/>
                </a:solidFill>
              </a:defRPr>
            </a:pPr>
            <a:r>
              <a:t>Attackers host scams on legitimate platforms (firebaseapp.com, docs.google.com, vercel.app). Domain reputation checks fail completely because the root domain is trusted.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02 / COMPETITIVE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Competitive Analysis: The Speed vs. Detection Dilemma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106984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560320"/>
                <a:gridCol w="2560320"/>
                <a:gridCol w="2651760"/>
              </a:tblGrid>
              <a:tr h="10287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8FAFC"/>
                          </a:solidFill>
                        </a:defRPr>
                      </a:pPr>
                      <a:r>
                        <a:t>Evaluation Criteria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8FAFC"/>
                          </a:solidFill>
                        </a:defRPr>
                      </a:pPr>
                      <a:r>
                        <a:t>Google Safe Browsing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8FAFC"/>
                          </a:solidFill>
                        </a:defRPr>
                      </a:pPr>
                      <a:r>
                        <a:t>Enterprise Cloud Proxies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8BDF8"/>
                          </a:solidFill>
                        </a:defRPr>
                      </a:pPr>
                      <a:r>
                        <a:t>PhishGuard (Our Solution)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94A3B8"/>
                          </a:solidFill>
                        </a:defRPr>
                      </a:pPr>
                      <a:r>
                        <a:t>Zero-Day Threat Detection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POOR (Feeds lag by 2-8h)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HIGH (Heavy deep analysis)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34D399"/>
                          </a:solidFill>
                        </a:defRPr>
                      </a:pPr>
                      <a:r>
                        <a:t>HIGH (Instant real-time ML)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94A3B8"/>
                          </a:solidFill>
                        </a:defRPr>
                      </a:pPr>
                      <a:r>
                        <a:t>User Latency Overhead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&lt; 50 ms (Local Hash list)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SLOW (2,000 - 4,000 ms)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34D399"/>
                          </a:solidFill>
                        </a:defRPr>
                      </a:pPr>
                      <a:r>
                        <a:t>&lt; 50 ms (Progressive Triage)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94A3B8"/>
                          </a:solidFill>
                        </a:defRPr>
                      </a:pPr>
                      <a:r>
                        <a:t>Privacy / Data Leaks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HIGH (k-Anonymity hashes)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LOW (Logs full browsing URLs)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34D399"/>
                          </a:solidFill>
                        </a:defRPr>
                      </a:pPr>
                      <a:r>
                        <a:t>HIGH (Zero-leakage Vectors)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03 / 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PhishGuard: Progressive Multi-Tier Defense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34D399"/>
                </a:solidFill>
              </a:defRPr>
            </a:pPr>
            <a:r>
              <a:t>&lt; 10 ms</a:t>
            </a:r>
          </a:p>
          <a:p>
            <a:pPr>
              <a:spcBef>
                <a:spcPts val="800"/>
              </a:spcBef>
              <a:defRPr sz="1600" b="1">
                <a:solidFill>
                  <a:srgbClr val="F8FAFC"/>
                </a:solidFill>
              </a:defRPr>
            </a:pPr>
            <a:r>
              <a:t>Tier 1: On-Device Triage</a:t>
            </a:r>
          </a:p>
          <a:p>
            <a:pPr>
              <a:spcBef>
                <a:spcPts val="1400"/>
              </a:spcBef>
              <a:defRPr sz="1200">
                <a:solidFill>
                  <a:srgbClr val="94A3B8"/>
                </a:solidFill>
              </a:defRPr>
            </a:pPr>
            <a:r>
              <a:t>Local Bloom Filter checks top 50,000 safe domains in O(1) time. Evaluates lexical URL entropy, IP addresses, and homoglyphs. 90%+ benign traffic exits here with 0ms penalty.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38BDF8"/>
                </a:solidFill>
              </a:defRPr>
            </a:pPr>
            <a:r>
              <a:t>&lt; 30 ms</a:t>
            </a:r>
          </a:p>
          <a:p>
            <a:pPr>
              <a:spcBef>
                <a:spcPts val="800"/>
              </a:spcBef>
              <a:defRPr sz="1600" b="1">
                <a:solidFill>
                  <a:srgbClr val="F8FAFC"/>
                </a:solidFill>
              </a:defRPr>
            </a:pPr>
            <a:r>
              <a:t>Tier 2: DOM &amp; Form Analysis</a:t>
            </a:r>
          </a:p>
          <a:p>
            <a:pPr>
              <a:spcBef>
                <a:spcPts val="1400"/>
              </a:spcBef>
              <a:defRPr sz="1200">
                <a:solidFill>
                  <a:srgbClr val="94A3B8"/>
                </a:solidFill>
              </a:defRPr>
            </a:pPr>
            <a:r>
              <a:t>In-browser content script detects password inputs on unknown hosts. Flags brand mismatches (e.g. PayPal logo on vercel.app) and foreign credential submission targets.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FBBF24"/>
                </a:solidFill>
              </a:defRPr>
            </a:pPr>
            <a:r>
              <a:t>&lt; 180 ms</a:t>
            </a:r>
          </a:p>
          <a:p>
            <a:pPr>
              <a:spcBef>
                <a:spcPts val="800"/>
              </a:spcBef>
              <a:defRPr sz="1600" b="1">
                <a:solidFill>
                  <a:srgbClr val="F8FAFC"/>
                </a:solidFill>
              </a:defRPr>
            </a:pPr>
            <a:r>
              <a:t>Tier 3: Cloud Micro-Inference</a:t>
            </a:r>
          </a:p>
          <a:p>
            <a:pPr>
              <a:spcBef>
                <a:spcPts val="1400"/>
              </a:spcBef>
              <a:defRPr sz="1200">
                <a:solidFill>
                  <a:srgbClr val="94A3B8"/>
                </a:solidFill>
              </a:defRPr>
            </a:pPr>
            <a:r>
              <a:t>For amber-risk pages, extracts a 10-point numerical vector and queries our low-latency ML model. High-risk pages trigger an instant blocking screen.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04 / 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Key Innovations: Solving the Unsolved Engineering Hurdles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128016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Speculative Form Shielding</a:t>
            </a:r>
          </a:p>
          <a:p>
            <a:pPr>
              <a:spcBef>
                <a:spcPts val="400"/>
              </a:spcBef>
              <a:defRPr sz="1200">
                <a:solidFill>
                  <a:srgbClr val="F8FAFC"/>
                </a:solidFill>
              </a:defRPr>
            </a:pPr>
            <a:r>
              <a:t>Instead of blocking entire network traffic and causing latency, we instantly freeze only &lt;input type='password'&gt; elements with a micro-spinner the instant an unknown site loads. Users are protected before ML finishes.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154680"/>
            <a:ext cx="10698480" cy="1280160"/>
          </a:xfrm>
          <a:prstGeom prst="roundRect">
            <a:avLst/>
          </a:prstGeom>
          <a:solidFill>
            <a:srgbClr val="1E293B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34D399"/>
                </a:solidFill>
              </a:defRPr>
            </a:pPr>
            <a:r>
              <a:t>Edge Feature Extraction (Anti-Cloaking)</a:t>
            </a:r>
          </a:p>
          <a:p>
            <a:pPr>
              <a:spcBef>
                <a:spcPts val="400"/>
              </a:spcBef>
              <a:defRPr sz="1200">
                <a:solidFill>
                  <a:srgbClr val="F8FAFC"/>
                </a:solidFill>
              </a:defRPr>
            </a:pPr>
            <a:r>
              <a:t>Phishers use bot-detection to show clean pages to cloud scanners. PhishGuard extracts DOM features directly inside the user's browser, completely bypassing attacker cloaking techniques.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663440"/>
            <a:ext cx="10698480" cy="1280160"/>
          </a:xfrm>
          <a:prstGeom prst="roundRect">
            <a:avLst/>
          </a:prstGeom>
          <a:solidFill>
            <a:srgbClr val="1E293B"/>
          </a:solidFill>
          <a:ln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B7185"/>
                </a:solidFill>
              </a:defRPr>
            </a:pPr>
            <a:r>
              <a:t>Zero-Leakage k-Anonymity Vectors</a:t>
            </a:r>
          </a:p>
          <a:p>
            <a:pPr>
              <a:spcBef>
                <a:spcPts val="400"/>
              </a:spcBef>
              <a:defRPr sz="1200">
                <a:solidFill>
                  <a:srgbClr val="F8FAFC"/>
                </a:solidFill>
              </a:defRPr>
            </a:pPr>
            <a:r>
              <a:t>We never send browsing URLs, reset tokens, or session IDs to our servers. Only 32-bit hash prefixes and anonymized numerical feature vectors are transmitted, guaranteeing enterprise GDPR compliance.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05 /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End-to-End System Architecture &amp; Data 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2011680" cy="36576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1. User Navigates</a:t>
            </a:r>
          </a:p>
          <a:p>
            <a:pPr>
              <a:spcBef>
                <a:spcPts val="1000"/>
              </a:spcBef>
              <a:defRPr sz="1100">
                <a:solidFill>
                  <a:srgbClr val="94A3B8"/>
                </a:solidFill>
              </a:defRPr>
            </a:pPr>
            <a:r>
              <a:t>User clicks/visits URL. Chrome webNavigation fires in background script.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26080" y="2011680"/>
            <a:ext cx="2011680" cy="3657600"/>
          </a:xfrm>
          <a:prstGeom prst="roundRect">
            <a:avLst/>
          </a:prstGeom>
          <a:solidFill>
            <a:srgbClr val="1E293B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2. Local Bloom Filter</a:t>
            </a:r>
          </a:p>
          <a:p>
            <a:pPr>
              <a:spcBef>
                <a:spcPts val="1000"/>
              </a:spcBef>
              <a:defRPr sz="1100">
                <a:solidFill>
                  <a:srgbClr val="94A3B8"/>
                </a:solidFill>
              </a:defRPr>
            </a:pPr>
            <a:r>
              <a:t>Top 50k safe domains checked in O(1) time. Safe = instant exit (0ms).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0" y="2011680"/>
            <a:ext cx="2011680" cy="3657600"/>
          </a:xfrm>
          <a:prstGeom prst="roundRect">
            <a:avLst/>
          </a:prstGeom>
          <a:solidFill>
            <a:srgbClr val="1E293B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3. DOM Inspector</a:t>
            </a:r>
          </a:p>
          <a:p>
            <a:pPr>
              <a:spcBef>
                <a:spcPts val="1000"/>
              </a:spcBef>
              <a:defRPr sz="1100">
                <a:solidFill>
                  <a:srgbClr val="94A3B8"/>
                </a:solidFill>
              </a:defRPr>
            </a:pPr>
            <a:r>
              <a:t>Content script checks password inputs, brand mismatches, and form actions.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199" y="2011680"/>
            <a:ext cx="2011680" cy="365760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4. Vector Inference</a:t>
            </a:r>
          </a:p>
          <a:p>
            <a:pPr>
              <a:spcBef>
                <a:spcPts val="1000"/>
              </a:spcBef>
              <a:defRPr sz="1100">
                <a:solidFill>
                  <a:srgbClr val="94A3B8"/>
                </a:solidFill>
              </a:defRPr>
            </a:pPr>
            <a:r>
              <a:t>Lightweight vector sent to FastAPI backend. XGBoost outputs Risk Score.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09760" y="2011680"/>
            <a:ext cx="2011680" cy="3657600"/>
          </a:xfrm>
          <a:prstGeom prst="roundRect">
            <a:avLst/>
          </a:prstGeom>
          <a:solidFill>
            <a:srgbClr val="1E293B"/>
          </a:solidFill>
          <a:ln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5. Enforcement</a:t>
            </a:r>
          </a:p>
          <a:p>
            <a:pPr>
              <a:spcBef>
                <a:spcPts val="1000"/>
              </a:spcBef>
              <a:defRPr sz="1100">
                <a:solidFill>
                  <a:srgbClr val="94A3B8"/>
                </a:solidFill>
              </a:defRPr>
            </a:pPr>
            <a:r>
              <a:t>Score &gt; 75: Instant Red Screen Block. Score &lt; 40: Unfreeze page.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06 / TECH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Production-Ready Technology Stack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Browser Extension Client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</a:defRPr>
            </a:pPr>
            <a:r>
              <a:t>Manifest V3 Architecture</a:t>
            </a:r>
            <a:br/>
            <a:r>
              <a:t>• TypeScript / Modern JavaScript</a:t>
            </a:r>
            <a:br/>
            <a:r>
              <a:t>• Content Scripts for DOM Vectorization</a:t>
            </a:r>
            <a:br/>
            <a:r>
              <a:t>• Client-Side Bloom Filter (150 KB)</a:t>
            </a:r>
            <a:br/>
            <a:r>
              <a:t>• WebNavigation Event Listeners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34D399"/>
                </a:solidFill>
              </a:defRPr>
            </a:pPr>
            <a:r>
              <a:t>Low-Latency Backend API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</a:defRPr>
            </a:pPr>
            <a:r>
              <a:t>High-Throughput Microservice</a:t>
            </a:r>
            <a:br/>
            <a:r>
              <a:t>• Python FastAPI (Asynchronous ASGI)</a:t>
            </a:r>
            <a:br/>
            <a:r>
              <a:t>• Uvicorn Production Web Server</a:t>
            </a:r>
            <a:br/>
            <a:r>
              <a:t>• CORS &amp; Pydantic Data Validation</a:t>
            </a:r>
            <a:br/>
            <a:r>
              <a:t>• Lightweight JSON Payload (&lt; 200 bytes)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21208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BBF24"/>
                </a:solidFill>
              </a:defRPr>
            </a:pPr>
            <a:r>
              <a:t>Machine Learning Engine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</a:defRPr>
            </a:pPr>
            <a:r>
              <a:t>Zero-Day Classifier</a:t>
            </a:r>
            <a:br/>
            <a:r>
              <a:t>• LightGBM / XGBoost Model (~2MB)</a:t>
            </a:r>
            <a:br/>
            <a:r>
              <a:t>• Features: URL entropy, brand-mismatch, subdomains, form targets</a:t>
            </a:r>
            <a:br/>
            <a:r>
              <a:t>• Sub-5ms inference per request</a:t>
            </a:r>
            <a:br/>
            <a:r>
              <a:t>• Trained on PhishTank &amp; Tranco datasets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931920"/>
            <a:ext cx="521208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B7185"/>
                </a:solidFill>
              </a:defRPr>
            </a:pPr>
            <a:r>
              <a:t>Cloud Infrastructure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</a:defRPr>
            </a:pPr>
            <a:r>
              <a:t>Serverless &amp; Edge Deployment</a:t>
            </a:r>
            <a:br/>
            <a:r>
              <a:t>• Render / Railway Web Service</a:t>
            </a:r>
            <a:br/>
            <a:r>
              <a:t>• Upstash Redis (Hash-Prefix Caching)</a:t>
            </a:r>
            <a:br/>
            <a:r>
              <a:t>• Auto-scaling cloud container</a:t>
            </a:r>
            <a:br/>
            <a:r>
              <a:t>• Zero-cost prototype architecture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07 / PROTOTYPE &amp; TARGETS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Prototype Demonstration &amp; Hackathon Metrics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38BDF8"/>
                </a:solidFill>
              </a:defRPr>
            </a:pPr>
            <a:r>
              <a:t>Live Demo User Experience</a:t>
            </a:r>
          </a:p>
          <a:p>
            <a:pPr>
              <a:spcBef>
                <a:spcPts val="1400"/>
              </a:spcBef>
              <a:defRPr sz="1300">
                <a:solidFill>
                  <a:srgbClr val="F8FAFC"/>
                </a:solidFill>
              </a:defRPr>
            </a:pPr>
            <a:r>
              <a:t>🟢 Clean Site (e.g. Wikipedia): Local Bloom Filter hits. Badge shows 'Safe' in 0 ms.</a:t>
            </a:r>
          </a:p>
          <a:p>
            <a:pPr>
              <a:spcBef>
                <a:spcPts val="1400"/>
              </a:spcBef>
              <a:defRPr sz="1300">
                <a:solidFill>
                  <a:srgbClr val="F8FAFC"/>
                </a:solidFill>
              </a:defRPr>
            </a:pPr>
            <a:r>
              <a:t>🟡 Unknown Login Page: Speculative Shield activates. Input frozen for ~120 ms during check.</a:t>
            </a:r>
          </a:p>
          <a:p>
            <a:pPr>
              <a:spcBef>
                <a:spcPts val="1400"/>
              </a:spcBef>
              <a:defRPr sz="1300">
                <a:solidFill>
                  <a:srgbClr val="F8FAFC"/>
                </a:solidFill>
              </a:defRPr>
            </a:pPr>
            <a:r>
              <a:t>🔴 Cloned Phishing Site (e.g. Fake Google on vercel.app): Brand mismatch detected. Risk: 96/100. Instant full-screen blocking page.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34D399"/>
                </a:solidFill>
              </a:defRPr>
            </a:pPr>
            <a:r>
              <a:t>Performance Targets</a:t>
            </a:r>
          </a:p>
          <a:p>
            <a:pPr>
              <a:spcBef>
                <a:spcPts val="1400"/>
              </a:spcBef>
              <a:defRPr sz="1300">
                <a:solidFill>
                  <a:srgbClr val="F8FAFC"/>
                </a:solidFill>
              </a:defRPr>
            </a:pPr>
            <a:r>
              <a:t>⚡ Local Bloom Filter: &lt; 10 ms</a:t>
            </a:r>
          </a:p>
          <a:p>
            <a:pPr>
              <a:spcBef>
                <a:spcPts val="1400"/>
              </a:spcBef>
              <a:defRPr sz="1300">
                <a:solidFill>
                  <a:srgbClr val="F8FAFC"/>
                </a:solidFill>
              </a:defRPr>
            </a:pPr>
            <a:r>
              <a:t>⚡ DOM Heuristics &amp; Feature Extraction: &lt; 30 ms</a:t>
            </a:r>
          </a:p>
          <a:p>
            <a:pPr>
              <a:spcBef>
                <a:spcPts val="1400"/>
              </a:spcBef>
              <a:defRPr sz="1300">
                <a:solidFill>
                  <a:srgbClr val="F8FAFC"/>
                </a:solidFill>
              </a:defRPr>
            </a:pPr>
            <a:r>
              <a:t>⚡ Cloud Vector Inference (FastAPI): &lt; 180 ms</a:t>
            </a:r>
          </a:p>
          <a:p>
            <a:pPr>
              <a:spcBef>
                <a:spcPts val="1400"/>
              </a:spcBef>
              <a:defRPr sz="1300">
                <a:solidFill>
                  <a:srgbClr val="F8FAFC"/>
                </a:solidFill>
              </a:defRPr>
            </a:pPr>
            <a:r>
              <a:t>🎯 False Positive Rate: &lt; 0.5% on Tranco top 100k</a:t>
            </a:r>
          </a:p>
          <a:p>
            <a:pPr>
              <a:spcBef>
                <a:spcPts val="1400"/>
              </a:spcBef>
              <a:defRPr sz="1300">
                <a:solidFill>
                  <a:srgbClr val="F8FAFC"/>
                </a:solidFill>
              </a:defRPr>
            </a:pPr>
            <a:r>
              <a:t>🔒 Privacy Overhead: 0 URLs logged (GDPR compliant)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